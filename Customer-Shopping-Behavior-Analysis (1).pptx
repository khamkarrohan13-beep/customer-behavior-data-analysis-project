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3625" y="2120900"/>
            <a:ext cx="439928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73625" y="3422015"/>
            <a:ext cx="5648325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7752" y="5177078"/>
            <a:ext cx="4178300" cy="1193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787400"/>
            <a:ext cx="877506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hyperlink" Target="https://gamma.app/?utm_source=made-with-gamma" TargetMode="External"/><Relationship Id="rId8" Type="http://schemas.openxmlformats.org/officeDocument/2006/relationships/image" Target="../media/image3.png"/><Relationship Id="rId9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hyperlink" Target="https://gamma.app/?utm_source=made-with-gamma" TargetMode="External"/><Relationship Id="rId13" Type="http://schemas.openxmlformats.org/officeDocument/2006/relationships/image" Target="../media/image3.png"/><Relationship Id="rId14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3.png"/><Relationship Id="rId10" Type="http://schemas.openxmlformats.org/officeDocument/2006/relationships/image" Target="../media/image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z="3350" spc="50"/>
              <a:t>Customer</a:t>
            </a:r>
            <a:r>
              <a:rPr dirty="0" sz="3350" spc="-245"/>
              <a:t> </a:t>
            </a:r>
            <a:r>
              <a:rPr dirty="0" sz="3350" spc="105"/>
              <a:t>Shopping </a:t>
            </a:r>
            <a:r>
              <a:rPr dirty="0" sz="3350"/>
              <a:t>Behavior</a:t>
            </a:r>
            <a:r>
              <a:rPr dirty="0" sz="3350" spc="30"/>
              <a:t> </a:t>
            </a:r>
            <a:r>
              <a:rPr dirty="0" sz="3350" spc="-10"/>
              <a:t>Analysis</a:t>
            </a:r>
            <a:endParaRPr sz="3350"/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Uncovering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insights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from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3,900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purchases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3D3E43"/>
                </a:solidFill>
                <a:latin typeface="Verdana"/>
                <a:cs typeface="Verdana"/>
              </a:rPr>
              <a:t>to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guide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strategic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business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decisions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through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data-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driven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analysis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of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spending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patterns,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customer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segments,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product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preferences.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9538969" y="5926073"/>
            <a:ext cx="1816100" cy="419100"/>
            <a:chOff x="9538969" y="5926073"/>
            <a:chExt cx="1816100" cy="419100"/>
          </a:xfrm>
        </p:grpSpPr>
        <p:pic>
          <p:nvPicPr>
            <p:cNvPr id="5" name="object 5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pic>
          <p:nvPicPr>
            <p:cNvPr id="6" name="object 6" descr="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38969" y="5987935"/>
              <a:ext cx="1816100" cy="310222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87235" y="672020"/>
            <a:ext cx="1778000" cy="303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0075" y="1009649"/>
            <a:ext cx="1752600" cy="323850"/>
            <a:chOff x="600075" y="1009649"/>
            <a:chExt cx="1752600" cy="323850"/>
          </a:xfrm>
        </p:grpSpPr>
        <p:sp>
          <p:nvSpPr>
            <p:cNvPr id="3" name="object 3" descr=""/>
            <p:cNvSpPr/>
            <p:nvPr/>
          </p:nvSpPr>
          <p:spPr>
            <a:xfrm>
              <a:off x="600075" y="1009649"/>
              <a:ext cx="1752600" cy="323850"/>
            </a:xfrm>
            <a:custGeom>
              <a:avLst/>
              <a:gdLst/>
              <a:ahLst/>
              <a:cxnLst/>
              <a:rect l="l" t="t" r="r" b="b"/>
              <a:pathLst>
                <a:path w="1752600" h="323850">
                  <a:moveTo>
                    <a:pt x="1656486" y="0"/>
                  </a:moveTo>
                  <a:lnTo>
                    <a:pt x="96113" y="0"/>
                  </a:lnTo>
                  <a:lnTo>
                    <a:pt x="89425" y="660"/>
                  </a:lnTo>
                  <a:lnTo>
                    <a:pt x="51335" y="13589"/>
                  </a:lnTo>
                  <a:lnTo>
                    <a:pt x="21088" y="40093"/>
                  </a:lnTo>
                  <a:lnTo>
                    <a:pt x="3294" y="76174"/>
                  </a:lnTo>
                  <a:lnTo>
                    <a:pt x="0" y="96113"/>
                  </a:lnTo>
                  <a:lnTo>
                    <a:pt x="0" y="220980"/>
                  </a:lnTo>
                  <a:lnTo>
                    <a:pt x="0" y="227736"/>
                  </a:lnTo>
                  <a:lnTo>
                    <a:pt x="10412" y="266585"/>
                  </a:lnTo>
                  <a:lnTo>
                    <a:pt x="34904" y="298500"/>
                  </a:lnTo>
                  <a:lnTo>
                    <a:pt x="69745" y="318604"/>
                  </a:lnTo>
                  <a:lnTo>
                    <a:pt x="96113" y="323850"/>
                  </a:lnTo>
                  <a:lnTo>
                    <a:pt x="1656486" y="323850"/>
                  </a:lnTo>
                  <a:lnTo>
                    <a:pt x="1695335" y="313436"/>
                  </a:lnTo>
                  <a:lnTo>
                    <a:pt x="1727250" y="288937"/>
                  </a:lnTo>
                  <a:lnTo>
                    <a:pt x="1747354" y="254101"/>
                  </a:lnTo>
                  <a:lnTo>
                    <a:pt x="1752600" y="227736"/>
                  </a:lnTo>
                  <a:lnTo>
                    <a:pt x="1752600" y="96113"/>
                  </a:lnTo>
                  <a:lnTo>
                    <a:pt x="1742186" y="57264"/>
                  </a:lnTo>
                  <a:lnTo>
                    <a:pt x="1717700" y="25349"/>
                  </a:lnTo>
                  <a:lnTo>
                    <a:pt x="1682851" y="5245"/>
                  </a:lnTo>
                  <a:lnTo>
                    <a:pt x="1663179" y="660"/>
                  </a:lnTo>
                  <a:lnTo>
                    <a:pt x="1656486" y="0"/>
                  </a:lnTo>
                  <a:close/>
                </a:path>
              </a:pathLst>
            </a:custGeom>
            <a:solidFill>
              <a:srgbClr val="DFE1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700" y="1101761"/>
              <a:ext cx="123371" cy="143206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95747" y="1069339"/>
            <a:ext cx="136271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40">
                <a:solidFill>
                  <a:srgbClr val="3D3E43"/>
                </a:solidFill>
                <a:latin typeface="Verdana"/>
                <a:cs typeface="Verdana"/>
              </a:rPr>
              <a:t>DATASET</a:t>
            </a:r>
            <a:r>
              <a:rPr dirty="0" sz="1050" spc="-3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3D3E43"/>
                </a:solidFill>
                <a:latin typeface="Verdana"/>
                <a:cs typeface="Verdana"/>
              </a:rPr>
              <a:t>OVERVIEW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1377950"/>
            <a:ext cx="56648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/>
              <a:t>The</a:t>
            </a:r>
            <a:r>
              <a:rPr dirty="0" sz="3350" spc="-114"/>
              <a:t> </a:t>
            </a:r>
            <a:r>
              <a:rPr dirty="0" sz="3350"/>
              <a:t>Foundation:</a:t>
            </a:r>
            <a:r>
              <a:rPr dirty="0" sz="3350" spc="-114"/>
              <a:t> </a:t>
            </a:r>
            <a:r>
              <a:rPr dirty="0" sz="3350" spc="100"/>
              <a:t>Our</a:t>
            </a:r>
            <a:r>
              <a:rPr dirty="0" sz="3350" spc="-114"/>
              <a:t> </a:t>
            </a:r>
            <a:r>
              <a:rPr dirty="0" sz="3350" spc="-20"/>
              <a:t>Data</a:t>
            </a:r>
            <a:endParaRPr sz="3350"/>
          </a:p>
        </p:txBody>
      </p:sp>
      <p:sp>
        <p:nvSpPr>
          <p:cNvPr id="7" name="object 7" descr=""/>
          <p:cNvSpPr txBox="1"/>
          <p:nvPr/>
        </p:nvSpPr>
        <p:spPr>
          <a:xfrm>
            <a:off x="1329281" y="2174239"/>
            <a:ext cx="1809114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10">
                <a:solidFill>
                  <a:srgbClr val="3D3E43"/>
                </a:solidFill>
                <a:latin typeface="Verdana"/>
                <a:cs typeface="Verdana"/>
              </a:rPr>
              <a:t>3,900</a:t>
            </a:r>
            <a:endParaRPr sz="4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Total</a:t>
            </a:r>
            <a:r>
              <a:rPr dirty="0" sz="1650" spc="-10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40">
                <a:solidFill>
                  <a:srgbClr val="3D3E43"/>
                </a:solidFill>
                <a:latin typeface="Verdana"/>
                <a:cs typeface="Verdana"/>
              </a:rPr>
              <a:t>Purchases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Transactions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analyzed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04273" y="2174239"/>
            <a:ext cx="1821180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5"/>
              </a:spcBef>
            </a:pPr>
            <a:r>
              <a:rPr dirty="0" sz="4450" spc="-610">
                <a:solidFill>
                  <a:srgbClr val="3D3E43"/>
                </a:solidFill>
                <a:latin typeface="Verdana"/>
                <a:cs typeface="Verdana"/>
              </a:rPr>
              <a:t>18</a:t>
            </a:r>
            <a:endParaRPr sz="4450">
              <a:latin typeface="Verdana"/>
              <a:cs typeface="Verdana"/>
            </a:endParaRPr>
          </a:p>
          <a:p>
            <a:pPr algn="ctr" marL="635">
              <a:lnSpc>
                <a:spcPct val="100000"/>
              </a:lnSpc>
              <a:spcBef>
                <a:spcPts val="1510"/>
              </a:spcBef>
            </a:pPr>
            <a:r>
              <a:rPr dirty="0" sz="1650">
                <a:solidFill>
                  <a:srgbClr val="3D3E43"/>
                </a:solidFill>
                <a:latin typeface="Verdana"/>
                <a:cs typeface="Verdana"/>
              </a:rPr>
              <a:t>Data</a:t>
            </a:r>
            <a:r>
              <a:rPr dirty="0" sz="1650" spc="2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50">
                <a:solidFill>
                  <a:srgbClr val="3D3E43"/>
                </a:solidFill>
                <a:latin typeface="Verdana"/>
                <a:cs typeface="Verdana"/>
              </a:rPr>
              <a:t>Points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Features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per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customer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323764" y="2174239"/>
            <a:ext cx="1745614" cy="1492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4450" spc="-25">
                <a:solidFill>
                  <a:srgbClr val="3D3E43"/>
                </a:solidFill>
                <a:latin typeface="Verdana"/>
                <a:cs typeface="Verdana"/>
              </a:rPr>
              <a:t>50</a:t>
            </a:r>
            <a:endParaRPr sz="44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1650" spc="40">
                <a:solidFill>
                  <a:srgbClr val="3D3E43"/>
                </a:solidFill>
                <a:latin typeface="Verdana"/>
                <a:cs typeface="Verdana"/>
              </a:rPr>
              <a:t>Locations</a:t>
            </a:r>
            <a:endParaRPr sz="165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95"/>
              </a:spcBef>
            </a:pP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Geographic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coverage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638175" y="46005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38175" y="49339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38175" y="5267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84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84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87375" y="3944937"/>
            <a:ext cx="6842759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73757D"/>
                </a:solidFill>
                <a:latin typeface="Verdana"/>
                <a:cs typeface="Verdana"/>
              </a:rPr>
              <a:t>Key</a:t>
            </a:r>
            <a:r>
              <a:rPr dirty="0" sz="1650" spc="-5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73757D"/>
                </a:solidFill>
                <a:latin typeface="Verdana"/>
                <a:cs typeface="Verdana"/>
              </a:rPr>
              <a:t>Features</a:t>
            </a:r>
            <a:r>
              <a:rPr dirty="0" sz="1650" spc="-10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 spc="40">
                <a:solidFill>
                  <a:srgbClr val="73757D"/>
                </a:solidFill>
                <a:latin typeface="Verdana"/>
                <a:cs typeface="Verdana"/>
              </a:rPr>
              <a:t>Captured</a:t>
            </a:r>
            <a:endParaRPr sz="1650">
              <a:latin typeface="Verdana"/>
              <a:cs typeface="Verdana"/>
            </a:endParaRPr>
          </a:p>
          <a:p>
            <a:pPr marL="286385" marR="1075055">
              <a:lnSpc>
                <a:spcPct val="162000"/>
              </a:lnSpc>
              <a:spcBef>
                <a:spcPts val="1290"/>
              </a:spcBef>
            </a:pP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Customer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demographics: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Age,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Gender,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Location,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Subscription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Status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Purchase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details: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3D3E43"/>
                </a:solidFill>
                <a:latin typeface="Verdana"/>
                <a:cs typeface="Verdana"/>
              </a:rPr>
              <a:t>Item,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Category,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3D3E43"/>
                </a:solidFill>
                <a:latin typeface="Verdana"/>
                <a:cs typeface="Verdana"/>
              </a:rPr>
              <a:t>Amount,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Season,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Size,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Color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Shopping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behavior: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Discounts,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Promo 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Codes,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Previous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Purchases,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Review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Ratings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261475" y="5926073"/>
            <a:ext cx="2082800" cy="419100"/>
            <a:chOff x="9261475" y="5926073"/>
            <a:chExt cx="2082800" cy="419100"/>
          </a:xfrm>
        </p:grpSpPr>
        <p:pic>
          <p:nvPicPr>
            <p:cNvPr id="15" name="object 1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1475" y="5947181"/>
              <a:ext cx="2082800" cy="3557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16083" cy="19905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4644" y="2411305"/>
            <a:ext cx="5535295" cy="5035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100" spc="50"/>
              <a:t>Data</a:t>
            </a:r>
            <a:r>
              <a:rPr dirty="0" sz="3100" spc="-235"/>
              <a:t> </a:t>
            </a:r>
            <a:r>
              <a:rPr dirty="0" sz="3100" spc="55"/>
              <a:t>Preparation</a:t>
            </a:r>
            <a:r>
              <a:rPr dirty="0" sz="3100" spc="-235"/>
              <a:t> </a:t>
            </a:r>
            <a:r>
              <a:rPr dirty="0" sz="3100" spc="80"/>
              <a:t>in</a:t>
            </a:r>
            <a:r>
              <a:rPr dirty="0" sz="3100" spc="-235"/>
              <a:t> </a:t>
            </a:r>
            <a:r>
              <a:rPr dirty="0" sz="3100" spc="114"/>
              <a:t>Python</a:t>
            </a:r>
            <a:endParaRPr sz="3100"/>
          </a:p>
        </p:txBody>
      </p:sp>
      <p:sp>
        <p:nvSpPr>
          <p:cNvPr id="4" name="object 4" descr=""/>
          <p:cNvSpPr txBox="1"/>
          <p:nvPr/>
        </p:nvSpPr>
        <p:spPr>
          <a:xfrm>
            <a:off x="543815" y="3145584"/>
            <a:ext cx="503364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26000" algn="l"/>
              </a:tabLst>
            </a:pPr>
            <a:r>
              <a:rPr dirty="0" sz="1250" spc="-25">
                <a:solidFill>
                  <a:srgbClr val="3D3E43"/>
                </a:solidFill>
                <a:latin typeface="Tahoma"/>
                <a:cs typeface="Tahoma"/>
              </a:rPr>
              <a:t>01</a:t>
            </a:r>
            <a:r>
              <a:rPr dirty="0" sz="1250">
                <a:solidFill>
                  <a:srgbClr val="3D3E43"/>
                </a:solidFill>
                <a:latin typeface="Tahoma"/>
                <a:cs typeface="Tahoma"/>
              </a:rPr>
              <a:t>	</a:t>
            </a:r>
            <a:r>
              <a:rPr dirty="0" sz="1250" spc="50">
                <a:solidFill>
                  <a:srgbClr val="3D3E43"/>
                </a:solidFill>
                <a:latin typeface="Tahoma"/>
                <a:cs typeface="Tahoma"/>
              </a:rPr>
              <a:t>02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344" y="3414840"/>
            <a:ext cx="4671076" cy="17693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44644" y="3512724"/>
            <a:ext cx="4090670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3D3E43"/>
                </a:solidFill>
                <a:latin typeface="Verdana"/>
                <a:cs typeface="Verdana"/>
              </a:rPr>
              <a:t>Data</a:t>
            </a:r>
            <a:r>
              <a:rPr dirty="0" sz="15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 spc="60">
                <a:solidFill>
                  <a:srgbClr val="3D3E43"/>
                </a:solidFill>
                <a:latin typeface="Verdana"/>
                <a:cs typeface="Verdana"/>
              </a:rPr>
              <a:t>Loading</a:t>
            </a:r>
            <a:r>
              <a:rPr dirty="0" sz="15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 spc="-30">
                <a:solidFill>
                  <a:srgbClr val="3D3E43"/>
                </a:solidFill>
                <a:latin typeface="Verdana"/>
                <a:cs typeface="Verdana"/>
              </a:rPr>
              <a:t>C</a:t>
            </a:r>
            <a:r>
              <a:rPr dirty="0" sz="15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3D3E43"/>
                </a:solidFill>
                <a:latin typeface="Verdana"/>
                <a:cs typeface="Verdana"/>
              </a:rPr>
              <a:t>Exploration</a:t>
            </a:r>
            <a:endParaRPr sz="1550">
              <a:latin typeface="Verdana"/>
              <a:cs typeface="Verdana"/>
            </a:endParaRPr>
          </a:p>
          <a:p>
            <a:pPr marL="12700" marR="5080">
              <a:lnSpc>
                <a:spcPct val="134700"/>
              </a:lnSpc>
              <a:spcBef>
                <a:spcPts val="500"/>
              </a:spcBef>
            </a:pPr>
            <a:r>
              <a:rPr dirty="0" sz="1250" spc="-85">
                <a:solidFill>
                  <a:srgbClr val="3D3E43"/>
                </a:solidFill>
                <a:latin typeface="Verdana"/>
                <a:cs typeface="Verdana"/>
              </a:rPr>
              <a:t>Imported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dataset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using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pandas,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3D3E43"/>
                </a:solidFill>
                <a:latin typeface="Verdana"/>
                <a:cs typeface="Verdana"/>
              </a:rPr>
              <a:t>checked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structure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D3E43"/>
                </a:solidFill>
                <a:latin typeface="Verdana"/>
                <a:cs typeface="Verdana"/>
              </a:rPr>
              <a:t>with 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df.info()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80">
                <a:solidFill>
                  <a:srgbClr val="3D3E43"/>
                </a:solidFill>
                <a:latin typeface="Verdana"/>
                <a:cs typeface="Verdana"/>
              </a:rPr>
              <a:t>summary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statistics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87662" y="3414840"/>
            <a:ext cx="4671076" cy="17693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374962" y="3512724"/>
            <a:ext cx="4584700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3D3E43"/>
                </a:solidFill>
                <a:latin typeface="Verdana"/>
                <a:cs typeface="Verdana"/>
              </a:rPr>
              <a:t>Missing</a:t>
            </a:r>
            <a:r>
              <a:rPr dirty="0" sz="1550" spc="10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3D3E43"/>
                </a:solidFill>
                <a:latin typeface="Verdana"/>
                <a:cs typeface="Verdana"/>
              </a:rPr>
              <a:t>Data</a:t>
            </a:r>
            <a:r>
              <a:rPr dirty="0" sz="1550" spc="10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 spc="55">
                <a:solidFill>
                  <a:srgbClr val="3D3E43"/>
                </a:solidFill>
                <a:latin typeface="Verdana"/>
                <a:cs typeface="Verdana"/>
              </a:rPr>
              <a:t>Handling</a:t>
            </a:r>
            <a:endParaRPr sz="1550">
              <a:latin typeface="Verdana"/>
              <a:cs typeface="Verdana"/>
            </a:endParaRPr>
          </a:p>
          <a:p>
            <a:pPr marL="12700" marR="5080">
              <a:lnSpc>
                <a:spcPct val="134700"/>
              </a:lnSpc>
              <a:spcBef>
                <a:spcPts val="500"/>
              </a:spcBef>
            </a:pPr>
            <a:r>
              <a:rPr dirty="0" sz="1250" spc="-95">
                <a:solidFill>
                  <a:srgbClr val="3D3E43"/>
                </a:solidFill>
                <a:latin typeface="Verdana"/>
                <a:cs typeface="Verdana"/>
              </a:rPr>
              <a:t>Imputed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80">
                <a:solidFill>
                  <a:srgbClr val="3D3E43"/>
                </a:solidFill>
                <a:latin typeface="Verdana"/>
                <a:cs typeface="Verdana"/>
              </a:rPr>
              <a:t>37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missing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Review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Rating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values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using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median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rating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per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product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category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28189" y="4640683"/>
            <a:ext cx="217804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35">
                <a:solidFill>
                  <a:srgbClr val="3D3E43"/>
                </a:solidFill>
                <a:latin typeface="Tahoma"/>
                <a:cs typeface="Tahoma"/>
              </a:rPr>
              <a:t>03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344" y="4918785"/>
            <a:ext cx="4671076" cy="17693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44644" y="5016669"/>
            <a:ext cx="4079240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3D3E43"/>
                </a:solidFill>
                <a:latin typeface="Verdana"/>
                <a:cs typeface="Verdana"/>
              </a:rPr>
              <a:t>Feature</a:t>
            </a:r>
            <a:r>
              <a:rPr dirty="0" sz="1550" spc="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 spc="45">
                <a:solidFill>
                  <a:srgbClr val="3D3E43"/>
                </a:solidFill>
                <a:latin typeface="Verdana"/>
                <a:cs typeface="Verdana"/>
              </a:rPr>
              <a:t>Engineering</a:t>
            </a:r>
            <a:endParaRPr sz="1550">
              <a:latin typeface="Verdana"/>
              <a:cs typeface="Verdana"/>
            </a:endParaRPr>
          </a:p>
          <a:p>
            <a:pPr marL="12700" marR="5080">
              <a:lnSpc>
                <a:spcPct val="134700"/>
              </a:lnSpc>
              <a:spcBef>
                <a:spcPts val="500"/>
              </a:spcBef>
            </a:pP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Created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age_group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bins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purchase_frequency_days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columns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for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deeper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analysis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50085" y="4640683"/>
            <a:ext cx="23495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105">
                <a:solidFill>
                  <a:srgbClr val="3D3E43"/>
                </a:solidFill>
                <a:latin typeface="Tahoma"/>
                <a:cs typeface="Tahoma"/>
              </a:rPr>
              <a:t>04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87662" y="4918785"/>
            <a:ext cx="4671076" cy="17693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374962" y="5016669"/>
            <a:ext cx="4417060" cy="8407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550">
                <a:solidFill>
                  <a:srgbClr val="3D3E43"/>
                </a:solidFill>
                <a:latin typeface="Verdana"/>
                <a:cs typeface="Verdana"/>
              </a:rPr>
              <a:t>Database</a:t>
            </a:r>
            <a:r>
              <a:rPr dirty="0" sz="1550" spc="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3D3E43"/>
                </a:solidFill>
                <a:latin typeface="Verdana"/>
                <a:cs typeface="Verdana"/>
              </a:rPr>
              <a:t>Integration</a:t>
            </a:r>
            <a:endParaRPr sz="1550">
              <a:latin typeface="Verdana"/>
              <a:cs typeface="Verdana"/>
            </a:endParaRPr>
          </a:p>
          <a:p>
            <a:pPr marL="12700" marR="5080">
              <a:lnSpc>
                <a:spcPct val="134700"/>
              </a:lnSpc>
              <a:spcBef>
                <a:spcPts val="500"/>
              </a:spcBef>
            </a:pP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Connected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85">
                <a:solidFill>
                  <a:srgbClr val="3D3E43"/>
                </a:solidFill>
                <a:latin typeface="Verdana"/>
                <a:cs typeface="Verdana"/>
              </a:rPr>
              <a:t>to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PostgreSQL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loaded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cleaned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data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for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SQL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analysis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864241" y="5741827"/>
            <a:ext cx="3669029" cy="626745"/>
            <a:chOff x="6864241" y="5741827"/>
            <a:chExt cx="3669029" cy="626745"/>
          </a:xfrm>
        </p:grpSpPr>
        <p:pic>
          <p:nvPicPr>
            <p:cNvPr id="16" name="object 16" descr="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98047" y="5962700"/>
              <a:ext cx="1629568" cy="389256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64241" y="5741827"/>
              <a:ext cx="3668446" cy="6266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0075" y="600074"/>
            <a:ext cx="1733550" cy="342900"/>
            <a:chOff x="600075" y="600074"/>
            <a:chExt cx="1733550" cy="342900"/>
          </a:xfrm>
        </p:grpSpPr>
        <p:sp>
          <p:nvSpPr>
            <p:cNvPr id="3" name="object 3" descr=""/>
            <p:cNvSpPr/>
            <p:nvPr/>
          </p:nvSpPr>
          <p:spPr>
            <a:xfrm>
              <a:off x="604837" y="604837"/>
              <a:ext cx="1724025" cy="333375"/>
            </a:xfrm>
            <a:custGeom>
              <a:avLst/>
              <a:gdLst/>
              <a:ahLst/>
              <a:cxnLst/>
              <a:rect l="l" t="t" r="r" b="b"/>
              <a:pathLst>
                <a:path w="1724025" h="333375">
                  <a:moveTo>
                    <a:pt x="0" y="235267"/>
                  </a:moveTo>
                  <a:lnTo>
                    <a:pt x="0" y="98107"/>
                  </a:lnTo>
                  <a:lnTo>
                    <a:pt x="0" y="91668"/>
                  </a:lnTo>
                  <a:lnTo>
                    <a:pt x="629" y="85280"/>
                  </a:lnTo>
                  <a:lnTo>
                    <a:pt x="1884" y="78968"/>
                  </a:lnTo>
                  <a:lnTo>
                    <a:pt x="3140" y="72644"/>
                  </a:lnTo>
                  <a:lnTo>
                    <a:pt x="5001" y="66509"/>
                  </a:lnTo>
                  <a:lnTo>
                    <a:pt x="7466" y="60566"/>
                  </a:lnTo>
                  <a:lnTo>
                    <a:pt x="9931" y="54610"/>
                  </a:lnTo>
                  <a:lnTo>
                    <a:pt x="12952" y="48958"/>
                  </a:lnTo>
                  <a:lnTo>
                    <a:pt x="16535" y="43599"/>
                  </a:lnTo>
                  <a:lnTo>
                    <a:pt x="20111" y="38239"/>
                  </a:lnTo>
                  <a:lnTo>
                    <a:pt x="24179" y="33286"/>
                  </a:lnTo>
                  <a:lnTo>
                    <a:pt x="28733" y="28740"/>
                  </a:lnTo>
                  <a:lnTo>
                    <a:pt x="33287" y="24180"/>
                  </a:lnTo>
                  <a:lnTo>
                    <a:pt x="38243" y="20116"/>
                  </a:lnTo>
                  <a:lnTo>
                    <a:pt x="43601" y="16535"/>
                  </a:lnTo>
                  <a:lnTo>
                    <a:pt x="48959" y="12954"/>
                  </a:lnTo>
                  <a:lnTo>
                    <a:pt x="54610" y="9931"/>
                  </a:lnTo>
                  <a:lnTo>
                    <a:pt x="60563" y="7467"/>
                  </a:lnTo>
                  <a:lnTo>
                    <a:pt x="66516" y="5003"/>
                  </a:lnTo>
                  <a:lnTo>
                    <a:pt x="72647" y="3136"/>
                  </a:lnTo>
                  <a:lnTo>
                    <a:pt x="78968" y="1892"/>
                  </a:lnTo>
                  <a:lnTo>
                    <a:pt x="85283" y="622"/>
                  </a:lnTo>
                  <a:lnTo>
                    <a:pt x="91663" y="0"/>
                  </a:lnTo>
                  <a:lnTo>
                    <a:pt x="98107" y="0"/>
                  </a:lnTo>
                  <a:lnTo>
                    <a:pt x="1625917" y="0"/>
                  </a:lnTo>
                  <a:lnTo>
                    <a:pt x="1632356" y="0"/>
                  </a:lnTo>
                  <a:lnTo>
                    <a:pt x="1638731" y="622"/>
                  </a:lnTo>
                  <a:lnTo>
                    <a:pt x="1645056" y="1892"/>
                  </a:lnTo>
                  <a:lnTo>
                    <a:pt x="1651381" y="3136"/>
                  </a:lnTo>
                  <a:lnTo>
                    <a:pt x="1657515" y="5003"/>
                  </a:lnTo>
                  <a:lnTo>
                    <a:pt x="1663458" y="7467"/>
                  </a:lnTo>
                  <a:lnTo>
                    <a:pt x="1669415" y="9931"/>
                  </a:lnTo>
                  <a:lnTo>
                    <a:pt x="1695297" y="28740"/>
                  </a:lnTo>
                  <a:lnTo>
                    <a:pt x="1699844" y="33286"/>
                  </a:lnTo>
                  <a:lnTo>
                    <a:pt x="1716557" y="60566"/>
                  </a:lnTo>
                  <a:lnTo>
                    <a:pt x="1719021" y="66509"/>
                  </a:lnTo>
                  <a:lnTo>
                    <a:pt x="1720888" y="72644"/>
                  </a:lnTo>
                  <a:lnTo>
                    <a:pt x="1722145" y="78968"/>
                  </a:lnTo>
                  <a:lnTo>
                    <a:pt x="1723390" y="85280"/>
                  </a:lnTo>
                  <a:lnTo>
                    <a:pt x="1724025" y="91668"/>
                  </a:lnTo>
                  <a:lnTo>
                    <a:pt x="1724025" y="98107"/>
                  </a:lnTo>
                  <a:lnTo>
                    <a:pt x="1724025" y="235267"/>
                  </a:lnTo>
                  <a:lnTo>
                    <a:pt x="1724025" y="241706"/>
                  </a:lnTo>
                  <a:lnTo>
                    <a:pt x="1723390" y="248081"/>
                  </a:lnTo>
                  <a:lnTo>
                    <a:pt x="1722145" y="254406"/>
                  </a:lnTo>
                  <a:lnTo>
                    <a:pt x="1720888" y="260718"/>
                  </a:lnTo>
                  <a:lnTo>
                    <a:pt x="1719021" y="266865"/>
                  </a:lnTo>
                  <a:lnTo>
                    <a:pt x="1716557" y="272808"/>
                  </a:lnTo>
                  <a:lnTo>
                    <a:pt x="1714093" y="278765"/>
                  </a:lnTo>
                  <a:lnTo>
                    <a:pt x="1690738" y="309194"/>
                  </a:lnTo>
                  <a:lnTo>
                    <a:pt x="1680425" y="316839"/>
                  </a:lnTo>
                  <a:lnTo>
                    <a:pt x="1675066" y="320421"/>
                  </a:lnTo>
                  <a:lnTo>
                    <a:pt x="1669415" y="323443"/>
                  </a:lnTo>
                  <a:lnTo>
                    <a:pt x="1663458" y="325907"/>
                  </a:lnTo>
                  <a:lnTo>
                    <a:pt x="1657515" y="328371"/>
                  </a:lnTo>
                  <a:lnTo>
                    <a:pt x="1651381" y="330225"/>
                  </a:lnTo>
                  <a:lnTo>
                    <a:pt x="1645056" y="331495"/>
                  </a:lnTo>
                  <a:lnTo>
                    <a:pt x="1638744" y="332740"/>
                  </a:lnTo>
                  <a:lnTo>
                    <a:pt x="1632356" y="333375"/>
                  </a:lnTo>
                  <a:lnTo>
                    <a:pt x="1625917" y="333375"/>
                  </a:lnTo>
                  <a:lnTo>
                    <a:pt x="98107" y="333375"/>
                  </a:lnTo>
                  <a:lnTo>
                    <a:pt x="91663" y="333375"/>
                  </a:lnTo>
                  <a:lnTo>
                    <a:pt x="85283" y="332740"/>
                  </a:lnTo>
                  <a:lnTo>
                    <a:pt x="78968" y="331495"/>
                  </a:lnTo>
                  <a:lnTo>
                    <a:pt x="72647" y="330225"/>
                  </a:lnTo>
                  <a:lnTo>
                    <a:pt x="66516" y="328371"/>
                  </a:lnTo>
                  <a:lnTo>
                    <a:pt x="60563" y="325907"/>
                  </a:lnTo>
                  <a:lnTo>
                    <a:pt x="54610" y="323443"/>
                  </a:lnTo>
                  <a:lnTo>
                    <a:pt x="48959" y="320421"/>
                  </a:lnTo>
                  <a:lnTo>
                    <a:pt x="43601" y="316839"/>
                  </a:lnTo>
                  <a:lnTo>
                    <a:pt x="38243" y="313258"/>
                  </a:lnTo>
                  <a:lnTo>
                    <a:pt x="33287" y="309194"/>
                  </a:lnTo>
                  <a:lnTo>
                    <a:pt x="28733" y="304634"/>
                  </a:lnTo>
                  <a:lnTo>
                    <a:pt x="24179" y="300088"/>
                  </a:lnTo>
                  <a:lnTo>
                    <a:pt x="7466" y="272808"/>
                  </a:lnTo>
                  <a:lnTo>
                    <a:pt x="5001" y="266865"/>
                  </a:lnTo>
                  <a:lnTo>
                    <a:pt x="3140" y="260718"/>
                  </a:lnTo>
                  <a:lnTo>
                    <a:pt x="1884" y="254406"/>
                  </a:lnTo>
                  <a:lnTo>
                    <a:pt x="629" y="248081"/>
                  </a:lnTo>
                  <a:lnTo>
                    <a:pt x="0" y="241706"/>
                  </a:lnTo>
                  <a:lnTo>
                    <a:pt x="0" y="235267"/>
                  </a:lnTo>
                  <a:close/>
                </a:path>
              </a:pathLst>
            </a:custGeom>
            <a:ln w="9525">
              <a:solidFill>
                <a:srgbClr val="C6C9D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98" y="708365"/>
              <a:ext cx="143223" cy="130040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905272" y="678815"/>
            <a:ext cx="133286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>
                <a:solidFill>
                  <a:srgbClr val="C6C9DC"/>
                </a:solidFill>
                <a:latin typeface="Verdana"/>
                <a:cs typeface="Verdana"/>
              </a:rPr>
              <a:t>REVENUE</a:t>
            </a:r>
            <a:r>
              <a:rPr dirty="0" sz="1050" spc="-60">
                <a:solidFill>
                  <a:srgbClr val="C6C9DC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C6C9DC"/>
                </a:solidFill>
                <a:latin typeface="Verdana"/>
                <a:cs typeface="Verdana"/>
              </a:rPr>
              <a:t>INSIGHTS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987425"/>
            <a:ext cx="62363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60"/>
              <a:t>Gender</a:t>
            </a:r>
            <a:r>
              <a:rPr dirty="0" sz="3350" spc="-280"/>
              <a:t> </a:t>
            </a:r>
            <a:r>
              <a:rPr dirty="0" sz="3350"/>
              <a:t>C</a:t>
            </a:r>
            <a:r>
              <a:rPr dirty="0" sz="3350" spc="-265"/>
              <a:t> </a:t>
            </a:r>
            <a:r>
              <a:rPr dirty="0" sz="3350" spc="95"/>
              <a:t>Spending</a:t>
            </a:r>
            <a:r>
              <a:rPr dirty="0" sz="3350" spc="-265"/>
              <a:t> </a:t>
            </a:r>
            <a:r>
              <a:rPr dirty="0" sz="3350" spc="40"/>
              <a:t>Patterns</a:t>
            </a:r>
            <a:endParaRPr sz="3350"/>
          </a:p>
        </p:txBody>
      </p:sp>
      <p:grpSp>
        <p:nvGrpSpPr>
          <p:cNvPr id="7" name="object 7" descr=""/>
          <p:cNvGrpSpPr/>
          <p:nvPr/>
        </p:nvGrpSpPr>
        <p:grpSpPr>
          <a:xfrm>
            <a:off x="1344194" y="2077251"/>
            <a:ext cx="5763260" cy="3419475"/>
            <a:chOff x="1344194" y="2077251"/>
            <a:chExt cx="5763260" cy="3419475"/>
          </a:xfrm>
        </p:grpSpPr>
        <p:sp>
          <p:nvSpPr>
            <p:cNvPr id="8" name="object 8" descr=""/>
            <p:cNvSpPr/>
            <p:nvPr/>
          </p:nvSpPr>
          <p:spPr>
            <a:xfrm>
              <a:off x="1404113" y="5439847"/>
              <a:ext cx="5699125" cy="0"/>
            </a:xfrm>
            <a:custGeom>
              <a:avLst/>
              <a:gdLst/>
              <a:ahLst/>
              <a:cxnLst/>
              <a:rect l="l" t="t" r="r" b="b"/>
              <a:pathLst>
                <a:path w="5699125" h="0">
                  <a:moveTo>
                    <a:pt x="0" y="0"/>
                  </a:moveTo>
                  <a:lnTo>
                    <a:pt x="5698826" y="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04113" y="4318978"/>
              <a:ext cx="5699125" cy="0"/>
            </a:xfrm>
            <a:custGeom>
              <a:avLst/>
              <a:gdLst/>
              <a:ahLst/>
              <a:cxnLst/>
              <a:rect l="l" t="t" r="r" b="b"/>
              <a:pathLst>
                <a:path w="5699125" h="0">
                  <a:moveTo>
                    <a:pt x="0" y="0"/>
                  </a:moveTo>
                  <a:lnTo>
                    <a:pt x="5698826" y="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04113" y="3206674"/>
              <a:ext cx="5699125" cy="0"/>
            </a:xfrm>
            <a:custGeom>
              <a:avLst/>
              <a:gdLst/>
              <a:ahLst/>
              <a:cxnLst/>
              <a:rect l="l" t="t" r="r" b="b"/>
              <a:pathLst>
                <a:path w="5699125" h="0">
                  <a:moveTo>
                    <a:pt x="0" y="0"/>
                  </a:moveTo>
                  <a:lnTo>
                    <a:pt x="5698826" y="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04113" y="2085824"/>
              <a:ext cx="5699125" cy="0"/>
            </a:xfrm>
            <a:custGeom>
              <a:avLst/>
              <a:gdLst/>
              <a:ahLst/>
              <a:cxnLst/>
              <a:rect l="l" t="t" r="r" b="b"/>
              <a:pathLst>
                <a:path w="5699125" h="0">
                  <a:moveTo>
                    <a:pt x="0" y="0"/>
                  </a:moveTo>
                  <a:lnTo>
                    <a:pt x="5698826" y="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146325" y="2496502"/>
              <a:ext cx="1732280" cy="2940050"/>
            </a:xfrm>
            <a:custGeom>
              <a:avLst/>
              <a:gdLst/>
              <a:ahLst/>
              <a:cxnLst/>
              <a:rect l="l" t="t" r="r" b="b"/>
              <a:pathLst>
                <a:path w="1732279" h="2940050">
                  <a:moveTo>
                    <a:pt x="1694726" y="0"/>
                  </a:moveTo>
                  <a:lnTo>
                    <a:pt x="42786" y="0"/>
                  </a:lnTo>
                  <a:lnTo>
                    <a:pt x="37109" y="0"/>
                  </a:lnTo>
                  <a:lnTo>
                    <a:pt x="31661" y="1092"/>
                  </a:lnTo>
                  <a:lnTo>
                    <a:pt x="1092" y="31661"/>
                  </a:lnTo>
                  <a:lnTo>
                    <a:pt x="0" y="37109"/>
                  </a:lnTo>
                  <a:lnTo>
                    <a:pt x="0" y="2939921"/>
                  </a:lnTo>
                  <a:lnTo>
                    <a:pt x="1731835" y="2939921"/>
                  </a:lnTo>
                  <a:lnTo>
                    <a:pt x="1731835" y="37109"/>
                  </a:lnTo>
                  <a:lnTo>
                    <a:pt x="1700187" y="1092"/>
                  </a:lnTo>
                  <a:lnTo>
                    <a:pt x="1694726" y="0"/>
                  </a:lnTo>
                  <a:close/>
                </a:path>
              </a:pathLst>
            </a:custGeom>
            <a:solidFill>
              <a:srgbClr val="1D1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620374" y="4036631"/>
              <a:ext cx="1732280" cy="1400175"/>
            </a:xfrm>
            <a:custGeom>
              <a:avLst/>
              <a:gdLst/>
              <a:ahLst/>
              <a:cxnLst/>
              <a:rect l="l" t="t" r="r" b="b"/>
              <a:pathLst>
                <a:path w="1732279" h="1400175">
                  <a:moveTo>
                    <a:pt x="1694726" y="0"/>
                  </a:moveTo>
                  <a:lnTo>
                    <a:pt x="42773" y="0"/>
                  </a:lnTo>
                  <a:lnTo>
                    <a:pt x="37109" y="0"/>
                  </a:lnTo>
                  <a:lnTo>
                    <a:pt x="31648" y="1079"/>
                  </a:lnTo>
                  <a:lnTo>
                    <a:pt x="1079" y="31648"/>
                  </a:lnTo>
                  <a:lnTo>
                    <a:pt x="0" y="37109"/>
                  </a:lnTo>
                  <a:lnTo>
                    <a:pt x="0" y="1399792"/>
                  </a:lnTo>
                  <a:lnTo>
                    <a:pt x="1731822" y="1399792"/>
                  </a:lnTo>
                  <a:lnTo>
                    <a:pt x="1731822" y="37109"/>
                  </a:lnTo>
                  <a:lnTo>
                    <a:pt x="1710664" y="5422"/>
                  </a:lnTo>
                  <a:lnTo>
                    <a:pt x="1700174" y="1079"/>
                  </a:lnTo>
                  <a:lnTo>
                    <a:pt x="1694726" y="0"/>
                  </a:lnTo>
                  <a:close/>
                </a:path>
              </a:pathLst>
            </a:custGeom>
            <a:solidFill>
              <a:srgbClr val="4B5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52766" y="2085824"/>
              <a:ext cx="51435" cy="3354070"/>
            </a:xfrm>
            <a:custGeom>
              <a:avLst/>
              <a:gdLst/>
              <a:ahLst/>
              <a:cxnLst/>
              <a:rect l="l" t="t" r="r" b="b"/>
              <a:pathLst>
                <a:path w="51434" h="3354070">
                  <a:moveTo>
                    <a:pt x="51346" y="3354023"/>
                  </a:moveTo>
                  <a:lnTo>
                    <a:pt x="0" y="3354023"/>
                  </a:lnTo>
                </a:path>
                <a:path w="51434" h="3354070">
                  <a:moveTo>
                    <a:pt x="51346" y="2233153"/>
                  </a:moveTo>
                  <a:lnTo>
                    <a:pt x="0" y="2233153"/>
                  </a:lnTo>
                </a:path>
                <a:path w="51434" h="3354070">
                  <a:moveTo>
                    <a:pt x="51346" y="1120850"/>
                  </a:moveTo>
                  <a:lnTo>
                    <a:pt x="0" y="1120850"/>
                  </a:lnTo>
                </a:path>
                <a:path w="51434" h="3354070">
                  <a:moveTo>
                    <a:pt x="51346" y="0"/>
                  </a:moveTo>
                  <a:lnTo>
                    <a:pt x="0" y="0"/>
                  </a:lnTo>
                </a:path>
              </a:pathLst>
            </a:custGeom>
            <a:ln w="17112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04113" y="2090091"/>
              <a:ext cx="0" cy="3350895"/>
            </a:xfrm>
            <a:custGeom>
              <a:avLst/>
              <a:gdLst/>
              <a:ahLst/>
              <a:cxnLst/>
              <a:rect l="l" t="t" r="r" b="b"/>
              <a:pathLst>
                <a:path w="0" h="3350895">
                  <a:moveTo>
                    <a:pt x="0" y="3350614"/>
                  </a:moveTo>
                  <a:lnTo>
                    <a:pt x="0" y="0"/>
                  </a:lnTo>
                </a:path>
              </a:pathLst>
            </a:custGeom>
            <a:ln w="17112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012216" y="5436429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0"/>
                  </a:moveTo>
                  <a:lnTo>
                    <a:pt x="0" y="51335"/>
                  </a:lnTo>
                </a:path>
              </a:pathLst>
            </a:custGeom>
            <a:ln w="17112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80945" y="5346863"/>
            <a:ext cx="350520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35">
                <a:solidFill>
                  <a:srgbClr val="3D3E43"/>
                </a:solidFill>
                <a:latin typeface="Verdana"/>
                <a:cs typeface="Verdana"/>
              </a:rPr>
              <a:t>$0.00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59472" y="4226059"/>
            <a:ext cx="67246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5">
                <a:solidFill>
                  <a:srgbClr val="3D3E43"/>
                </a:solidFill>
                <a:latin typeface="Verdana"/>
                <a:cs typeface="Verdana"/>
              </a:rPr>
              <a:t>$60,000.00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0953" y="3113730"/>
            <a:ext cx="72072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60">
                <a:solidFill>
                  <a:srgbClr val="3D3E43"/>
                </a:solidFill>
                <a:latin typeface="Verdana"/>
                <a:cs typeface="Verdana"/>
              </a:rPr>
              <a:t>$120,000.00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11252" y="1992917"/>
            <a:ext cx="72072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60">
                <a:solidFill>
                  <a:srgbClr val="3D3E43"/>
                </a:solidFill>
                <a:latin typeface="Verdana"/>
                <a:cs typeface="Verdana"/>
              </a:rPr>
              <a:t>$180,000.00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864091" y="5475000"/>
            <a:ext cx="29654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20">
                <a:solidFill>
                  <a:srgbClr val="3D3E43"/>
                </a:solidFill>
                <a:latin typeface="Verdana"/>
                <a:cs typeface="Verdana"/>
              </a:rPr>
              <a:t>Male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486251" y="5436429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0"/>
                </a:moveTo>
                <a:lnTo>
                  <a:pt x="0" y="51335"/>
                </a:lnTo>
              </a:path>
            </a:pathLst>
          </a:custGeom>
          <a:ln w="17112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5272151" y="5475000"/>
            <a:ext cx="427990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5">
                <a:solidFill>
                  <a:srgbClr val="3D3E43"/>
                </a:solidFill>
                <a:latin typeface="Verdana"/>
                <a:cs typeface="Verdana"/>
              </a:rPr>
              <a:t>Female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408380" y="5436429"/>
            <a:ext cx="5690870" cy="0"/>
          </a:xfrm>
          <a:custGeom>
            <a:avLst/>
            <a:gdLst/>
            <a:ahLst/>
            <a:cxnLst/>
            <a:rect l="l" t="t" r="r" b="b"/>
            <a:pathLst>
              <a:path w="5690870" h="0">
                <a:moveTo>
                  <a:pt x="0" y="0"/>
                </a:moveTo>
                <a:lnTo>
                  <a:pt x="5690279" y="0"/>
                </a:lnTo>
              </a:path>
            </a:pathLst>
          </a:custGeom>
          <a:ln w="17112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7518006" y="2287587"/>
            <a:ext cx="3319145" cy="17792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913130">
              <a:lnSpc>
                <a:spcPct val="106100"/>
              </a:lnSpc>
              <a:spcBef>
                <a:spcPts val="15"/>
              </a:spcBef>
            </a:pPr>
            <a:r>
              <a:rPr dirty="0" sz="1650" spc="75">
                <a:solidFill>
                  <a:srgbClr val="73757D"/>
                </a:solidFill>
                <a:latin typeface="Verdana"/>
                <a:cs typeface="Verdana"/>
              </a:rPr>
              <a:t>Male</a:t>
            </a:r>
            <a:r>
              <a:rPr dirty="0" sz="1650" spc="30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73757D"/>
                </a:solidFill>
                <a:latin typeface="Verdana"/>
                <a:cs typeface="Verdana"/>
              </a:rPr>
              <a:t>Customers</a:t>
            </a:r>
            <a:r>
              <a:rPr dirty="0" sz="1650" spc="30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73757D"/>
                </a:solidFill>
                <a:latin typeface="Verdana"/>
                <a:cs typeface="Verdana"/>
              </a:rPr>
              <a:t>Drive </a:t>
            </a:r>
            <a:r>
              <a:rPr dirty="0" sz="1650" spc="-10">
                <a:solidFill>
                  <a:srgbClr val="73757D"/>
                </a:solidFill>
                <a:latin typeface="Verdana"/>
                <a:cs typeface="Verdana"/>
              </a:rPr>
              <a:t>Revenue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1090"/>
              </a:spcBef>
            </a:pPr>
            <a:r>
              <a:rPr dirty="0" sz="1350" spc="-25">
                <a:solidFill>
                  <a:srgbClr val="3D3E43"/>
                </a:solidFill>
                <a:latin typeface="Verdana"/>
                <a:cs typeface="Verdana"/>
              </a:rPr>
              <a:t>Male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customers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generated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30">
                <a:solidFill>
                  <a:srgbClr val="3D3E43"/>
                </a:solidFill>
                <a:latin typeface="Verdana"/>
                <a:cs typeface="Verdana"/>
              </a:rPr>
              <a:t>$157,890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3D3E43"/>
                </a:solidFill>
                <a:latin typeface="Verdana"/>
                <a:cs typeface="Verdana"/>
              </a:rPr>
              <a:t>in </a:t>
            </a:r>
            <a:r>
              <a:rPr dirty="0" sz="1350" spc="-95">
                <a:solidFill>
                  <a:srgbClr val="3D3E43"/>
                </a:solidFill>
                <a:latin typeface="Verdana"/>
                <a:cs typeface="Verdana"/>
              </a:rPr>
              <a:t>total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revenue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compared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3D3E43"/>
                </a:solidFill>
                <a:latin typeface="Verdana"/>
                <a:cs typeface="Verdana"/>
              </a:rPr>
              <a:t>to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80">
                <a:solidFill>
                  <a:srgbClr val="3D3E43"/>
                </a:solidFill>
                <a:latin typeface="Verdana"/>
                <a:cs typeface="Verdana"/>
              </a:rPr>
              <a:t>$75,191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from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female 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customers4more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3D3E43"/>
                </a:solidFill>
                <a:latin typeface="Verdana"/>
                <a:cs typeface="Verdana"/>
              </a:rPr>
              <a:t>than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double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3D3E43"/>
                </a:solidFill>
                <a:latin typeface="Verdana"/>
                <a:cs typeface="Verdana"/>
              </a:rPr>
              <a:t>the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contribution.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518006" y="4193540"/>
            <a:ext cx="322135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This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significant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gap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suggests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opportunities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for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targeted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marketing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campaigns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3D3E43"/>
                </a:solidFill>
                <a:latin typeface="Verdana"/>
                <a:cs typeface="Verdana"/>
              </a:rPr>
              <a:t>to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better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engage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female 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shoppers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balance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revenue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streams.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681848" y="5735981"/>
            <a:ext cx="3670300" cy="627380"/>
            <a:chOff x="7681848" y="5735981"/>
            <a:chExt cx="3670300" cy="627380"/>
          </a:xfrm>
        </p:grpSpPr>
        <p:pic>
          <p:nvPicPr>
            <p:cNvPr id="28" name="object 28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81848" y="5735981"/>
              <a:ext cx="3670300" cy="6269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120775"/>
            <a:ext cx="10096500" cy="1068705"/>
          </a:xfrm>
          <a:prstGeom prst="rect"/>
        </p:spPr>
        <p:txBody>
          <a:bodyPr wrap="square" lIns="0" tIns="196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dirty="0" sz="3350" spc="135"/>
              <a:t>Product</a:t>
            </a:r>
            <a:r>
              <a:rPr dirty="0" sz="3350" spc="-260"/>
              <a:t> </a:t>
            </a:r>
            <a:r>
              <a:rPr dirty="0" sz="3350" spc="90"/>
              <a:t>Performance</a:t>
            </a:r>
            <a:r>
              <a:rPr dirty="0" sz="3350" spc="-254"/>
              <a:t> </a:t>
            </a:r>
            <a:r>
              <a:rPr dirty="0" sz="3350"/>
              <a:t>C</a:t>
            </a:r>
            <a:r>
              <a:rPr dirty="0" sz="3350" spc="-254"/>
              <a:t> </a:t>
            </a:r>
            <a:r>
              <a:rPr dirty="0" sz="3350" spc="50"/>
              <a:t>Customer</a:t>
            </a:r>
            <a:r>
              <a:rPr dirty="0" sz="3350" spc="-254"/>
              <a:t> </a:t>
            </a:r>
            <a:r>
              <a:rPr dirty="0" sz="3350" spc="45"/>
              <a:t>Preferences</a:t>
            </a:r>
            <a:endParaRPr sz="3350"/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650"/>
              <a:t>Top</a:t>
            </a:r>
            <a:r>
              <a:rPr dirty="0" sz="1650" spc="-100"/>
              <a:t> </a:t>
            </a:r>
            <a:r>
              <a:rPr dirty="0" sz="1650" spc="-90"/>
              <a:t>5</a:t>
            </a:r>
            <a:r>
              <a:rPr dirty="0" sz="1650" spc="-100"/>
              <a:t> </a:t>
            </a:r>
            <a:r>
              <a:rPr dirty="0" sz="1650" spc="65"/>
              <a:t>Products</a:t>
            </a:r>
            <a:r>
              <a:rPr dirty="0" sz="1650" spc="-95"/>
              <a:t> </a:t>
            </a:r>
            <a:r>
              <a:rPr dirty="0" sz="1650"/>
              <a:t>by</a:t>
            </a:r>
            <a:r>
              <a:rPr dirty="0" sz="1650" spc="-95"/>
              <a:t> </a:t>
            </a:r>
            <a:r>
              <a:rPr dirty="0" sz="1650" spc="45"/>
              <a:t>Rating</a:t>
            </a:r>
            <a:endParaRPr sz="1650"/>
          </a:p>
        </p:txBody>
      </p:sp>
      <p:grpSp>
        <p:nvGrpSpPr>
          <p:cNvPr id="3" name="object 3" descr=""/>
          <p:cNvGrpSpPr/>
          <p:nvPr/>
        </p:nvGrpSpPr>
        <p:grpSpPr>
          <a:xfrm>
            <a:off x="600074" y="2543174"/>
            <a:ext cx="2705100" cy="209550"/>
            <a:chOff x="600074" y="2543174"/>
            <a:chExt cx="2705100" cy="209550"/>
          </a:xfrm>
        </p:grpSpPr>
        <p:sp>
          <p:nvSpPr>
            <p:cNvPr id="4" name="object 4" descr=""/>
            <p:cNvSpPr/>
            <p:nvPr/>
          </p:nvSpPr>
          <p:spPr>
            <a:xfrm>
              <a:off x="604837" y="2547937"/>
              <a:ext cx="2695575" cy="200025"/>
            </a:xfrm>
            <a:custGeom>
              <a:avLst/>
              <a:gdLst/>
              <a:ahLst/>
              <a:cxnLst/>
              <a:rect l="l" t="t" r="r" b="b"/>
              <a:pathLst>
                <a:path w="2695575" h="200025">
                  <a:moveTo>
                    <a:pt x="2595562" y="0"/>
                  </a:moveTo>
                  <a:lnTo>
                    <a:pt x="100012" y="0"/>
                  </a:lnTo>
                  <a:lnTo>
                    <a:pt x="90161" y="476"/>
                  </a:lnTo>
                  <a:lnTo>
                    <a:pt x="52818" y="11819"/>
                  </a:lnTo>
                  <a:lnTo>
                    <a:pt x="22662" y="36594"/>
                  </a:lnTo>
                  <a:lnTo>
                    <a:pt x="4284" y="71021"/>
                  </a:lnTo>
                  <a:lnTo>
                    <a:pt x="0" y="100012"/>
                  </a:lnTo>
                  <a:lnTo>
                    <a:pt x="476" y="109863"/>
                  </a:lnTo>
                  <a:lnTo>
                    <a:pt x="11824" y="147205"/>
                  </a:lnTo>
                  <a:lnTo>
                    <a:pt x="36595" y="177360"/>
                  </a:lnTo>
                  <a:lnTo>
                    <a:pt x="71023" y="195738"/>
                  </a:lnTo>
                  <a:lnTo>
                    <a:pt x="100012" y="200024"/>
                  </a:lnTo>
                  <a:lnTo>
                    <a:pt x="2595562" y="200024"/>
                  </a:lnTo>
                  <a:lnTo>
                    <a:pt x="2633840" y="192404"/>
                  </a:lnTo>
                  <a:lnTo>
                    <a:pt x="2666275" y="170726"/>
                  </a:lnTo>
                  <a:lnTo>
                    <a:pt x="2687954" y="138290"/>
                  </a:lnTo>
                  <a:lnTo>
                    <a:pt x="2695574" y="100012"/>
                  </a:lnTo>
                  <a:lnTo>
                    <a:pt x="2695098" y="90161"/>
                  </a:lnTo>
                  <a:lnTo>
                    <a:pt x="2683749" y="52819"/>
                  </a:lnTo>
                  <a:lnTo>
                    <a:pt x="2658977" y="22659"/>
                  </a:lnTo>
                  <a:lnTo>
                    <a:pt x="2624553" y="4280"/>
                  </a:lnTo>
                  <a:lnTo>
                    <a:pt x="2595562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2552700"/>
              <a:ext cx="2686049" cy="19049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4837" y="2547937"/>
              <a:ext cx="2695575" cy="200025"/>
            </a:xfrm>
            <a:custGeom>
              <a:avLst/>
              <a:gdLst/>
              <a:ahLst/>
              <a:cxnLst/>
              <a:rect l="l" t="t" r="r" b="b"/>
              <a:pathLst>
                <a:path w="2695575" h="200025">
                  <a:moveTo>
                    <a:pt x="0" y="100012"/>
                  </a:moveTo>
                  <a:lnTo>
                    <a:pt x="0" y="93446"/>
                  </a:lnTo>
                  <a:lnTo>
                    <a:pt x="640" y="86944"/>
                  </a:lnTo>
                  <a:lnTo>
                    <a:pt x="13205" y="49911"/>
                  </a:lnTo>
                  <a:lnTo>
                    <a:pt x="16856" y="44450"/>
                  </a:lnTo>
                  <a:lnTo>
                    <a:pt x="20504" y="38989"/>
                  </a:lnTo>
                  <a:lnTo>
                    <a:pt x="49907" y="13208"/>
                  </a:lnTo>
                  <a:lnTo>
                    <a:pt x="80501" y="1917"/>
                  </a:lnTo>
                  <a:lnTo>
                    <a:pt x="86940" y="635"/>
                  </a:lnTo>
                  <a:lnTo>
                    <a:pt x="93444" y="0"/>
                  </a:lnTo>
                  <a:lnTo>
                    <a:pt x="100012" y="0"/>
                  </a:lnTo>
                  <a:lnTo>
                    <a:pt x="2595562" y="0"/>
                  </a:lnTo>
                  <a:lnTo>
                    <a:pt x="2602128" y="0"/>
                  </a:lnTo>
                  <a:lnTo>
                    <a:pt x="2608630" y="635"/>
                  </a:lnTo>
                  <a:lnTo>
                    <a:pt x="2645664" y="13208"/>
                  </a:lnTo>
                  <a:lnTo>
                    <a:pt x="2666276" y="29286"/>
                  </a:lnTo>
                  <a:lnTo>
                    <a:pt x="2670924" y="33934"/>
                  </a:lnTo>
                  <a:lnTo>
                    <a:pt x="2687955" y="61734"/>
                  </a:lnTo>
                  <a:lnTo>
                    <a:pt x="2690469" y="67805"/>
                  </a:lnTo>
                  <a:lnTo>
                    <a:pt x="2692374" y="74053"/>
                  </a:lnTo>
                  <a:lnTo>
                    <a:pt x="2693657" y="80505"/>
                  </a:lnTo>
                  <a:lnTo>
                    <a:pt x="2694940" y="86944"/>
                  </a:lnTo>
                  <a:lnTo>
                    <a:pt x="2695575" y="93446"/>
                  </a:lnTo>
                  <a:lnTo>
                    <a:pt x="2695575" y="100012"/>
                  </a:lnTo>
                  <a:lnTo>
                    <a:pt x="2695575" y="106578"/>
                  </a:lnTo>
                  <a:lnTo>
                    <a:pt x="2694940" y="113080"/>
                  </a:lnTo>
                  <a:lnTo>
                    <a:pt x="2693657" y="119519"/>
                  </a:lnTo>
                  <a:lnTo>
                    <a:pt x="2692374" y="125958"/>
                  </a:lnTo>
                  <a:lnTo>
                    <a:pt x="2690469" y="132219"/>
                  </a:lnTo>
                  <a:lnTo>
                    <a:pt x="2687955" y="138277"/>
                  </a:lnTo>
                  <a:lnTo>
                    <a:pt x="2685453" y="144348"/>
                  </a:lnTo>
                  <a:lnTo>
                    <a:pt x="2666276" y="170726"/>
                  </a:lnTo>
                  <a:lnTo>
                    <a:pt x="2661640" y="175374"/>
                  </a:lnTo>
                  <a:lnTo>
                    <a:pt x="2656586" y="179527"/>
                  </a:lnTo>
                  <a:lnTo>
                    <a:pt x="2651125" y="183172"/>
                  </a:lnTo>
                  <a:lnTo>
                    <a:pt x="2645664" y="186817"/>
                  </a:lnTo>
                  <a:lnTo>
                    <a:pt x="2639898" y="189890"/>
                  </a:lnTo>
                  <a:lnTo>
                    <a:pt x="2633840" y="192405"/>
                  </a:lnTo>
                  <a:lnTo>
                    <a:pt x="2627769" y="194932"/>
                  </a:lnTo>
                  <a:lnTo>
                    <a:pt x="2621508" y="196824"/>
                  </a:lnTo>
                  <a:lnTo>
                    <a:pt x="2615069" y="198107"/>
                  </a:lnTo>
                  <a:lnTo>
                    <a:pt x="2608630" y="199390"/>
                  </a:lnTo>
                  <a:lnTo>
                    <a:pt x="2602128" y="200025"/>
                  </a:lnTo>
                  <a:lnTo>
                    <a:pt x="2595562" y="200025"/>
                  </a:lnTo>
                  <a:lnTo>
                    <a:pt x="100012" y="200025"/>
                  </a:lnTo>
                  <a:lnTo>
                    <a:pt x="93444" y="200025"/>
                  </a:lnTo>
                  <a:lnTo>
                    <a:pt x="86940" y="199390"/>
                  </a:lnTo>
                  <a:lnTo>
                    <a:pt x="80501" y="198107"/>
                  </a:lnTo>
                  <a:lnTo>
                    <a:pt x="74061" y="196824"/>
                  </a:lnTo>
                  <a:lnTo>
                    <a:pt x="67806" y="194932"/>
                  </a:lnTo>
                  <a:lnTo>
                    <a:pt x="61738" y="192405"/>
                  </a:lnTo>
                  <a:lnTo>
                    <a:pt x="55671" y="189890"/>
                  </a:lnTo>
                  <a:lnTo>
                    <a:pt x="49907" y="186817"/>
                  </a:lnTo>
                  <a:lnTo>
                    <a:pt x="44450" y="183172"/>
                  </a:lnTo>
                  <a:lnTo>
                    <a:pt x="38987" y="179527"/>
                  </a:lnTo>
                  <a:lnTo>
                    <a:pt x="33938" y="175374"/>
                  </a:lnTo>
                  <a:lnTo>
                    <a:pt x="29293" y="170726"/>
                  </a:lnTo>
                  <a:lnTo>
                    <a:pt x="24650" y="166090"/>
                  </a:lnTo>
                  <a:lnTo>
                    <a:pt x="20504" y="161036"/>
                  </a:lnTo>
                  <a:lnTo>
                    <a:pt x="16856" y="155575"/>
                  </a:lnTo>
                  <a:lnTo>
                    <a:pt x="13205" y="150114"/>
                  </a:lnTo>
                  <a:lnTo>
                    <a:pt x="10125" y="144348"/>
                  </a:lnTo>
                  <a:lnTo>
                    <a:pt x="7614" y="138277"/>
                  </a:lnTo>
                  <a:lnTo>
                    <a:pt x="5100" y="132219"/>
                  </a:lnTo>
                  <a:lnTo>
                    <a:pt x="3204" y="125958"/>
                  </a:lnTo>
                  <a:lnTo>
                    <a:pt x="1920" y="119519"/>
                  </a:lnTo>
                  <a:lnTo>
                    <a:pt x="640" y="113080"/>
                  </a:lnTo>
                  <a:lnTo>
                    <a:pt x="0" y="106578"/>
                  </a:lnTo>
                  <a:lnTo>
                    <a:pt x="0" y="100012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0074" y="2543175"/>
              <a:ext cx="2076449" cy="209549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587375" y="2954337"/>
            <a:ext cx="156781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Gloves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3.86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rating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086224" y="2543174"/>
            <a:ext cx="2695575" cy="209550"/>
            <a:chOff x="4086224" y="2543174"/>
            <a:chExt cx="2695575" cy="209550"/>
          </a:xfrm>
        </p:grpSpPr>
        <p:sp>
          <p:nvSpPr>
            <p:cNvPr id="10" name="object 10" descr=""/>
            <p:cNvSpPr/>
            <p:nvPr/>
          </p:nvSpPr>
          <p:spPr>
            <a:xfrm>
              <a:off x="4090987" y="2547937"/>
              <a:ext cx="2686050" cy="200025"/>
            </a:xfrm>
            <a:custGeom>
              <a:avLst/>
              <a:gdLst/>
              <a:ahLst/>
              <a:cxnLst/>
              <a:rect l="l" t="t" r="r" b="b"/>
              <a:pathLst>
                <a:path w="2686050" h="200025">
                  <a:moveTo>
                    <a:pt x="2586037" y="0"/>
                  </a:moveTo>
                  <a:lnTo>
                    <a:pt x="100012" y="0"/>
                  </a:lnTo>
                  <a:lnTo>
                    <a:pt x="90156" y="476"/>
                  </a:lnTo>
                  <a:lnTo>
                    <a:pt x="52814" y="11819"/>
                  </a:lnTo>
                  <a:lnTo>
                    <a:pt x="22664" y="36594"/>
                  </a:lnTo>
                  <a:lnTo>
                    <a:pt x="4280" y="71021"/>
                  </a:lnTo>
                  <a:lnTo>
                    <a:pt x="0" y="100012"/>
                  </a:lnTo>
                  <a:lnTo>
                    <a:pt x="476" y="109863"/>
                  </a:lnTo>
                  <a:lnTo>
                    <a:pt x="11819" y="147205"/>
                  </a:lnTo>
                  <a:lnTo>
                    <a:pt x="36597" y="177360"/>
                  </a:lnTo>
                  <a:lnTo>
                    <a:pt x="71019" y="195738"/>
                  </a:lnTo>
                  <a:lnTo>
                    <a:pt x="100012" y="200024"/>
                  </a:lnTo>
                  <a:lnTo>
                    <a:pt x="2586037" y="200024"/>
                  </a:lnTo>
                  <a:lnTo>
                    <a:pt x="2624315" y="192404"/>
                  </a:lnTo>
                  <a:lnTo>
                    <a:pt x="2656750" y="170726"/>
                  </a:lnTo>
                  <a:lnTo>
                    <a:pt x="2678429" y="138290"/>
                  </a:lnTo>
                  <a:lnTo>
                    <a:pt x="2686049" y="100012"/>
                  </a:lnTo>
                  <a:lnTo>
                    <a:pt x="2685573" y="90161"/>
                  </a:lnTo>
                  <a:lnTo>
                    <a:pt x="2674224" y="52819"/>
                  </a:lnTo>
                  <a:lnTo>
                    <a:pt x="2649452" y="22659"/>
                  </a:lnTo>
                  <a:lnTo>
                    <a:pt x="2615028" y="4280"/>
                  </a:lnTo>
                  <a:lnTo>
                    <a:pt x="2586037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5749" y="2552700"/>
              <a:ext cx="2676524" cy="19049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090987" y="2547937"/>
              <a:ext cx="2686050" cy="200025"/>
            </a:xfrm>
            <a:custGeom>
              <a:avLst/>
              <a:gdLst/>
              <a:ahLst/>
              <a:cxnLst/>
              <a:rect l="l" t="t" r="r" b="b"/>
              <a:pathLst>
                <a:path w="2686050" h="200025">
                  <a:moveTo>
                    <a:pt x="0" y="100012"/>
                  </a:moveTo>
                  <a:lnTo>
                    <a:pt x="0" y="93446"/>
                  </a:lnTo>
                  <a:lnTo>
                    <a:pt x="635" y="86944"/>
                  </a:lnTo>
                  <a:lnTo>
                    <a:pt x="1917" y="80505"/>
                  </a:lnTo>
                  <a:lnTo>
                    <a:pt x="3200" y="74053"/>
                  </a:lnTo>
                  <a:lnTo>
                    <a:pt x="5105" y="67805"/>
                  </a:lnTo>
                  <a:lnTo>
                    <a:pt x="7620" y="61734"/>
                  </a:lnTo>
                  <a:lnTo>
                    <a:pt x="10121" y="55676"/>
                  </a:lnTo>
                  <a:lnTo>
                    <a:pt x="29298" y="29286"/>
                  </a:lnTo>
                  <a:lnTo>
                    <a:pt x="33934" y="24650"/>
                  </a:lnTo>
                  <a:lnTo>
                    <a:pt x="67805" y="5105"/>
                  </a:lnTo>
                  <a:lnTo>
                    <a:pt x="93446" y="0"/>
                  </a:lnTo>
                  <a:lnTo>
                    <a:pt x="100012" y="0"/>
                  </a:lnTo>
                  <a:lnTo>
                    <a:pt x="2586037" y="0"/>
                  </a:lnTo>
                  <a:lnTo>
                    <a:pt x="2592603" y="0"/>
                  </a:lnTo>
                  <a:lnTo>
                    <a:pt x="2599105" y="635"/>
                  </a:lnTo>
                  <a:lnTo>
                    <a:pt x="2636139" y="13208"/>
                  </a:lnTo>
                  <a:lnTo>
                    <a:pt x="2656751" y="29286"/>
                  </a:lnTo>
                  <a:lnTo>
                    <a:pt x="2661399" y="33934"/>
                  </a:lnTo>
                  <a:lnTo>
                    <a:pt x="2665552" y="38989"/>
                  </a:lnTo>
                  <a:lnTo>
                    <a:pt x="2669197" y="44450"/>
                  </a:lnTo>
                  <a:lnTo>
                    <a:pt x="2672842" y="49911"/>
                  </a:lnTo>
                  <a:lnTo>
                    <a:pt x="2675928" y="55676"/>
                  </a:lnTo>
                  <a:lnTo>
                    <a:pt x="2678430" y="61734"/>
                  </a:lnTo>
                  <a:lnTo>
                    <a:pt x="2680944" y="67805"/>
                  </a:lnTo>
                  <a:lnTo>
                    <a:pt x="2682849" y="74053"/>
                  </a:lnTo>
                  <a:lnTo>
                    <a:pt x="2684119" y="80505"/>
                  </a:lnTo>
                  <a:lnTo>
                    <a:pt x="2685415" y="86944"/>
                  </a:lnTo>
                  <a:lnTo>
                    <a:pt x="2686050" y="93446"/>
                  </a:lnTo>
                  <a:lnTo>
                    <a:pt x="2686050" y="100012"/>
                  </a:lnTo>
                  <a:lnTo>
                    <a:pt x="2686050" y="106578"/>
                  </a:lnTo>
                  <a:lnTo>
                    <a:pt x="2685415" y="113080"/>
                  </a:lnTo>
                  <a:lnTo>
                    <a:pt x="2684119" y="119519"/>
                  </a:lnTo>
                  <a:lnTo>
                    <a:pt x="2682849" y="125958"/>
                  </a:lnTo>
                  <a:lnTo>
                    <a:pt x="2680944" y="132219"/>
                  </a:lnTo>
                  <a:lnTo>
                    <a:pt x="2678430" y="138277"/>
                  </a:lnTo>
                  <a:lnTo>
                    <a:pt x="2675928" y="144348"/>
                  </a:lnTo>
                  <a:lnTo>
                    <a:pt x="2672842" y="150114"/>
                  </a:lnTo>
                  <a:lnTo>
                    <a:pt x="2669197" y="155575"/>
                  </a:lnTo>
                  <a:lnTo>
                    <a:pt x="2665552" y="161036"/>
                  </a:lnTo>
                  <a:lnTo>
                    <a:pt x="2661399" y="166090"/>
                  </a:lnTo>
                  <a:lnTo>
                    <a:pt x="2656751" y="170726"/>
                  </a:lnTo>
                  <a:lnTo>
                    <a:pt x="2652115" y="175374"/>
                  </a:lnTo>
                  <a:lnTo>
                    <a:pt x="2647061" y="179527"/>
                  </a:lnTo>
                  <a:lnTo>
                    <a:pt x="2641600" y="183172"/>
                  </a:lnTo>
                  <a:lnTo>
                    <a:pt x="2636139" y="186817"/>
                  </a:lnTo>
                  <a:lnTo>
                    <a:pt x="2630373" y="189890"/>
                  </a:lnTo>
                  <a:lnTo>
                    <a:pt x="2624315" y="192405"/>
                  </a:lnTo>
                  <a:lnTo>
                    <a:pt x="2618244" y="194932"/>
                  </a:lnTo>
                  <a:lnTo>
                    <a:pt x="2611983" y="196824"/>
                  </a:lnTo>
                  <a:lnTo>
                    <a:pt x="2605544" y="198107"/>
                  </a:lnTo>
                  <a:lnTo>
                    <a:pt x="2599105" y="199390"/>
                  </a:lnTo>
                  <a:lnTo>
                    <a:pt x="2592603" y="200025"/>
                  </a:lnTo>
                  <a:lnTo>
                    <a:pt x="2586037" y="200025"/>
                  </a:lnTo>
                  <a:lnTo>
                    <a:pt x="100012" y="200025"/>
                  </a:lnTo>
                  <a:lnTo>
                    <a:pt x="93446" y="200025"/>
                  </a:lnTo>
                  <a:lnTo>
                    <a:pt x="86944" y="199390"/>
                  </a:lnTo>
                  <a:lnTo>
                    <a:pt x="80505" y="198107"/>
                  </a:lnTo>
                  <a:lnTo>
                    <a:pt x="74066" y="196824"/>
                  </a:lnTo>
                  <a:lnTo>
                    <a:pt x="67805" y="194932"/>
                  </a:lnTo>
                  <a:lnTo>
                    <a:pt x="61734" y="192405"/>
                  </a:lnTo>
                  <a:lnTo>
                    <a:pt x="55676" y="189890"/>
                  </a:lnTo>
                  <a:lnTo>
                    <a:pt x="49911" y="186817"/>
                  </a:lnTo>
                  <a:lnTo>
                    <a:pt x="44450" y="183172"/>
                  </a:lnTo>
                  <a:lnTo>
                    <a:pt x="38989" y="179527"/>
                  </a:lnTo>
                  <a:lnTo>
                    <a:pt x="33934" y="175374"/>
                  </a:lnTo>
                  <a:lnTo>
                    <a:pt x="29298" y="170726"/>
                  </a:lnTo>
                  <a:lnTo>
                    <a:pt x="24650" y="166090"/>
                  </a:lnTo>
                  <a:lnTo>
                    <a:pt x="7620" y="138277"/>
                  </a:lnTo>
                  <a:lnTo>
                    <a:pt x="5105" y="132219"/>
                  </a:lnTo>
                  <a:lnTo>
                    <a:pt x="3200" y="125958"/>
                  </a:lnTo>
                  <a:lnTo>
                    <a:pt x="1917" y="119519"/>
                  </a:lnTo>
                  <a:lnTo>
                    <a:pt x="635" y="113080"/>
                  </a:lnTo>
                  <a:lnTo>
                    <a:pt x="0" y="106578"/>
                  </a:lnTo>
                  <a:lnTo>
                    <a:pt x="0" y="100012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86224" y="2543175"/>
              <a:ext cx="2076449" cy="20954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3417341" y="2497137"/>
            <a:ext cx="742569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493770" algn="l"/>
                <a:tab pos="6979920" algn="l"/>
              </a:tabLst>
            </a:pPr>
            <a:r>
              <a:rPr dirty="0" sz="1650" spc="-25">
                <a:solidFill>
                  <a:srgbClr val="3D3E43"/>
                </a:solidFill>
                <a:latin typeface="Verdana"/>
                <a:cs typeface="Verdana"/>
              </a:rPr>
              <a:t>77%</a:t>
            </a:r>
            <a:r>
              <a:rPr dirty="0" sz="1650">
                <a:solidFill>
                  <a:srgbClr val="3D3E43"/>
                </a:solidFill>
                <a:latin typeface="Verdana"/>
                <a:cs typeface="Verdana"/>
              </a:rPr>
              <a:t>	</a:t>
            </a:r>
            <a:r>
              <a:rPr dirty="0" sz="1650" spc="-25">
                <a:solidFill>
                  <a:srgbClr val="3D3E43"/>
                </a:solidFill>
                <a:latin typeface="Verdana"/>
                <a:cs typeface="Verdana"/>
              </a:rPr>
              <a:t>77%</a:t>
            </a:r>
            <a:r>
              <a:rPr dirty="0" sz="1650">
                <a:solidFill>
                  <a:srgbClr val="3D3E43"/>
                </a:solidFill>
                <a:latin typeface="Verdana"/>
                <a:cs typeface="Verdana"/>
              </a:rPr>
              <a:t>	</a:t>
            </a:r>
            <a:r>
              <a:rPr dirty="0" sz="1650" spc="-145">
                <a:solidFill>
                  <a:srgbClr val="3D3E43"/>
                </a:solidFill>
                <a:latin typeface="Verdana"/>
                <a:cs typeface="Verdana"/>
              </a:rPr>
              <a:t>76%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68762" y="2954337"/>
            <a:ext cx="157289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Sandals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3.84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rating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562849" y="2543174"/>
            <a:ext cx="2705100" cy="209550"/>
            <a:chOff x="7562849" y="2543174"/>
            <a:chExt cx="2705100" cy="209550"/>
          </a:xfrm>
        </p:grpSpPr>
        <p:sp>
          <p:nvSpPr>
            <p:cNvPr id="17" name="object 17" descr=""/>
            <p:cNvSpPr/>
            <p:nvPr/>
          </p:nvSpPr>
          <p:spPr>
            <a:xfrm>
              <a:off x="7567611" y="2547937"/>
              <a:ext cx="2695575" cy="200025"/>
            </a:xfrm>
            <a:custGeom>
              <a:avLst/>
              <a:gdLst/>
              <a:ahLst/>
              <a:cxnLst/>
              <a:rect l="l" t="t" r="r" b="b"/>
              <a:pathLst>
                <a:path w="2695575" h="200025">
                  <a:moveTo>
                    <a:pt x="2595562" y="0"/>
                  </a:moveTo>
                  <a:lnTo>
                    <a:pt x="100012" y="0"/>
                  </a:lnTo>
                  <a:lnTo>
                    <a:pt x="90156" y="476"/>
                  </a:lnTo>
                  <a:lnTo>
                    <a:pt x="52814" y="11819"/>
                  </a:lnTo>
                  <a:lnTo>
                    <a:pt x="22664" y="36594"/>
                  </a:lnTo>
                  <a:lnTo>
                    <a:pt x="4280" y="71021"/>
                  </a:lnTo>
                  <a:lnTo>
                    <a:pt x="0" y="100012"/>
                  </a:lnTo>
                  <a:lnTo>
                    <a:pt x="476" y="109863"/>
                  </a:lnTo>
                  <a:lnTo>
                    <a:pt x="11819" y="147205"/>
                  </a:lnTo>
                  <a:lnTo>
                    <a:pt x="36597" y="177360"/>
                  </a:lnTo>
                  <a:lnTo>
                    <a:pt x="71019" y="195738"/>
                  </a:lnTo>
                  <a:lnTo>
                    <a:pt x="100012" y="200024"/>
                  </a:lnTo>
                  <a:lnTo>
                    <a:pt x="2595562" y="200024"/>
                  </a:lnTo>
                  <a:lnTo>
                    <a:pt x="2633840" y="192404"/>
                  </a:lnTo>
                  <a:lnTo>
                    <a:pt x="2666275" y="170726"/>
                  </a:lnTo>
                  <a:lnTo>
                    <a:pt x="2687954" y="138290"/>
                  </a:lnTo>
                  <a:lnTo>
                    <a:pt x="2695574" y="100012"/>
                  </a:lnTo>
                  <a:lnTo>
                    <a:pt x="2695098" y="90161"/>
                  </a:lnTo>
                  <a:lnTo>
                    <a:pt x="2683749" y="52819"/>
                  </a:lnTo>
                  <a:lnTo>
                    <a:pt x="2658975" y="22659"/>
                  </a:lnTo>
                  <a:lnTo>
                    <a:pt x="2624548" y="4280"/>
                  </a:lnTo>
                  <a:lnTo>
                    <a:pt x="2595562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2374" y="2552700"/>
              <a:ext cx="2686049" cy="19049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7567612" y="2547937"/>
              <a:ext cx="2695575" cy="200025"/>
            </a:xfrm>
            <a:custGeom>
              <a:avLst/>
              <a:gdLst/>
              <a:ahLst/>
              <a:cxnLst/>
              <a:rect l="l" t="t" r="r" b="b"/>
              <a:pathLst>
                <a:path w="2695575" h="200025">
                  <a:moveTo>
                    <a:pt x="0" y="100012"/>
                  </a:moveTo>
                  <a:lnTo>
                    <a:pt x="0" y="93446"/>
                  </a:lnTo>
                  <a:lnTo>
                    <a:pt x="635" y="86944"/>
                  </a:lnTo>
                  <a:lnTo>
                    <a:pt x="1917" y="80505"/>
                  </a:lnTo>
                  <a:lnTo>
                    <a:pt x="3200" y="74053"/>
                  </a:lnTo>
                  <a:lnTo>
                    <a:pt x="5105" y="67805"/>
                  </a:lnTo>
                  <a:lnTo>
                    <a:pt x="7620" y="61734"/>
                  </a:lnTo>
                  <a:lnTo>
                    <a:pt x="10121" y="55676"/>
                  </a:lnTo>
                  <a:lnTo>
                    <a:pt x="13208" y="49911"/>
                  </a:lnTo>
                  <a:lnTo>
                    <a:pt x="16852" y="44450"/>
                  </a:lnTo>
                  <a:lnTo>
                    <a:pt x="20497" y="38989"/>
                  </a:lnTo>
                  <a:lnTo>
                    <a:pt x="24650" y="33934"/>
                  </a:lnTo>
                  <a:lnTo>
                    <a:pt x="29298" y="29286"/>
                  </a:lnTo>
                  <a:lnTo>
                    <a:pt x="33934" y="24650"/>
                  </a:lnTo>
                  <a:lnTo>
                    <a:pt x="67805" y="5105"/>
                  </a:lnTo>
                  <a:lnTo>
                    <a:pt x="80505" y="1917"/>
                  </a:lnTo>
                  <a:lnTo>
                    <a:pt x="86944" y="635"/>
                  </a:lnTo>
                  <a:lnTo>
                    <a:pt x="93446" y="0"/>
                  </a:lnTo>
                  <a:lnTo>
                    <a:pt x="100012" y="0"/>
                  </a:lnTo>
                  <a:lnTo>
                    <a:pt x="2595562" y="0"/>
                  </a:lnTo>
                  <a:lnTo>
                    <a:pt x="2602128" y="0"/>
                  </a:lnTo>
                  <a:lnTo>
                    <a:pt x="2608630" y="635"/>
                  </a:lnTo>
                  <a:lnTo>
                    <a:pt x="2645664" y="13208"/>
                  </a:lnTo>
                  <a:lnTo>
                    <a:pt x="2666276" y="29286"/>
                  </a:lnTo>
                  <a:lnTo>
                    <a:pt x="2670924" y="33934"/>
                  </a:lnTo>
                  <a:lnTo>
                    <a:pt x="2675077" y="38989"/>
                  </a:lnTo>
                  <a:lnTo>
                    <a:pt x="2678722" y="44450"/>
                  </a:lnTo>
                  <a:lnTo>
                    <a:pt x="2682367" y="49911"/>
                  </a:lnTo>
                  <a:lnTo>
                    <a:pt x="2685453" y="55676"/>
                  </a:lnTo>
                  <a:lnTo>
                    <a:pt x="2687955" y="61734"/>
                  </a:lnTo>
                  <a:lnTo>
                    <a:pt x="2690469" y="67805"/>
                  </a:lnTo>
                  <a:lnTo>
                    <a:pt x="2692374" y="74053"/>
                  </a:lnTo>
                  <a:lnTo>
                    <a:pt x="2693644" y="80505"/>
                  </a:lnTo>
                  <a:lnTo>
                    <a:pt x="2694940" y="86944"/>
                  </a:lnTo>
                  <a:lnTo>
                    <a:pt x="2695575" y="93446"/>
                  </a:lnTo>
                  <a:lnTo>
                    <a:pt x="2695575" y="100012"/>
                  </a:lnTo>
                  <a:lnTo>
                    <a:pt x="2695575" y="106578"/>
                  </a:lnTo>
                  <a:lnTo>
                    <a:pt x="2694940" y="113080"/>
                  </a:lnTo>
                  <a:lnTo>
                    <a:pt x="2693644" y="119519"/>
                  </a:lnTo>
                  <a:lnTo>
                    <a:pt x="2692374" y="125958"/>
                  </a:lnTo>
                  <a:lnTo>
                    <a:pt x="2690469" y="132219"/>
                  </a:lnTo>
                  <a:lnTo>
                    <a:pt x="2687955" y="138277"/>
                  </a:lnTo>
                  <a:lnTo>
                    <a:pt x="2685453" y="144348"/>
                  </a:lnTo>
                  <a:lnTo>
                    <a:pt x="2682367" y="150114"/>
                  </a:lnTo>
                  <a:lnTo>
                    <a:pt x="2678722" y="155575"/>
                  </a:lnTo>
                  <a:lnTo>
                    <a:pt x="2675077" y="161036"/>
                  </a:lnTo>
                  <a:lnTo>
                    <a:pt x="2670924" y="166090"/>
                  </a:lnTo>
                  <a:lnTo>
                    <a:pt x="2666276" y="170726"/>
                  </a:lnTo>
                  <a:lnTo>
                    <a:pt x="2661640" y="175374"/>
                  </a:lnTo>
                  <a:lnTo>
                    <a:pt x="2656586" y="179527"/>
                  </a:lnTo>
                  <a:lnTo>
                    <a:pt x="2651125" y="183172"/>
                  </a:lnTo>
                  <a:lnTo>
                    <a:pt x="2645664" y="186817"/>
                  </a:lnTo>
                  <a:lnTo>
                    <a:pt x="2639898" y="189890"/>
                  </a:lnTo>
                  <a:lnTo>
                    <a:pt x="2633827" y="192405"/>
                  </a:lnTo>
                  <a:lnTo>
                    <a:pt x="2627769" y="194932"/>
                  </a:lnTo>
                  <a:lnTo>
                    <a:pt x="2621508" y="196824"/>
                  </a:lnTo>
                  <a:lnTo>
                    <a:pt x="2615069" y="198107"/>
                  </a:lnTo>
                  <a:lnTo>
                    <a:pt x="2608630" y="199390"/>
                  </a:lnTo>
                  <a:lnTo>
                    <a:pt x="2602128" y="200025"/>
                  </a:lnTo>
                  <a:lnTo>
                    <a:pt x="2595562" y="200025"/>
                  </a:lnTo>
                  <a:lnTo>
                    <a:pt x="100012" y="200025"/>
                  </a:lnTo>
                  <a:lnTo>
                    <a:pt x="93446" y="200025"/>
                  </a:lnTo>
                  <a:lnTo>
                    <a:pt x="86944" y="199390"/>
                  </a:lnTo>
                  <a:lnTo>
                    <a:pt x="80505" y="198107"/>
                  </a:lnTo>
                  <a:lnTo>
                    <a:pt x="74053" y="196824"/>
                  </a:lnTo>
                  <a:lnTo>
                    <a:pt x="67805" y="194932"/>
                  </a:lnTo>
                  <a:lnTo>
                    <a:pt x="61734" y="192405"/>
                  </a:lnTo>
                  <a:lnTo>
                    <a:pt x="55676" y="189890"/>
                  </a:lnTo>
                  <a:lnTo>
                    <a:pt x="49911" y="186817"/>
                  </a:lnTo>
                  <a:lnTo>
                    <a:pt x="44450" y="183172"/>
                  </a:lnTo>
                  <a:lnTo>
                    <a:pt x="38989" y="179527"/>
                  </a:lnTo>
                  <a:lnTo>
                    <a:pt x="33934" y="175374"/>
                  </a:lnTo>
                  <a:lnTo>
                    <a:pt x="29298" y="170726"/>
                  </a:lnTo>
                  <a:lnTo>
                    <a:pt x="24650" y="166090"/>
                  </a:lnTo>
                  <a:lnTo>
                    <a:pt x="20497" y="161036"/>
                  </a:lnTo>
                  <a:lnTo>
                    <a:pt x="16852" y="155575"/>
                  </a:lnTo>
                  <a:lnTo>
                    <a:pt x="13208" y="150114"/>
                  </a:lnTo>
                  <a:lnTo>
                    <a:pt x="10121" y="144348"/>
                  </a:lnTo>
                  <a:lnTo>
                    <a:pt x="7620" y="138277"/>
                  </a:lnTo>
                  <a:lnTo>
                    <a:pt x="5105" y="132219"/>
                  </a:lnTo>
                  <a:lnTo>
                    <a:pt x="3200" y="125958"/>
                  </a:lnTo>
                  <a:lnTo>
                    <a:pt x="1917" y="119519"/>
                  </a:lnTo>
                  <a:lnTo>
                    <a:pt x="635" y="113080"/>
                  </a:lnTo>
                  <a:lnTo>
                    <a:pt x="0" y="106578"/>
                  </a:lnTo>
                  <a:lnTo>
                    <a:pt x="0" y="100012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62849" y="2543175"/>
              <a:ext cx="2057399" cy="20954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550150" y="2954337"/>
            <a:ext cx="1570355" cy="6172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50">
                <a:solidFill>
                  <a:srgbClr val="3D3E43"/>
                </a:solidFill>
                <a:latin typeface="Verdana"/>
                <a:cs typeface="Verdana"/>
              </a:rPr>
              <a:t>Boots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3.82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rating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3421951" y="3992562"/>
            <a:ext cx="45847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45">
                <a:solidFill>
                  <a:srgbClr val="3D3E43"/>
                </a:solidFill>
                <a:latin typeface="Verdana"/>
                <a:cs typeface="Verdana"/>
              </a:rPr>
              <a:t>76%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00074" y="4038600"/>
            <a:ext cx="2705100" cy="219075"/>
            <a:chOff x="600074" y="4038600"/>
            <a:chExt cx="2705100" cy="219075"/>
          </a:xfrm>
        </p:grpSpPr>
        <p:sp>
          <p:nvSpPr>
            <p:cNvPr id="24" name="object 24" descr=""/>
            <p:cNvSpPr/>
            <p:nvPr/>
          </p:nvSpPr>
          <p:spPr>
            <a:xfrm>
              <a:off x="604837" y="4043362"/>
              <a:ext cx="2695575" cy="209550"/>
            </a:xfrm>
            <a:custGeom>
              <a:avLst/>
              <a:gdLst/>
              <a:ahLst/>
              <a:cxnLst/>
              <a:rect l="l" t="t" r="r" b="b"/>
              <a:pathLst>
                <a:path w="2695575" h="209550">
                  <a:moveTo>
                    <a:pt x="2590799" y="0"/>
                  </a:moveTo>
                  <a:lnTo>
                    <a:pt x="104774" y="0"/>
                  </a:lnTo>
                  <a:lnTo>
                    <a:pt x="94453" y="497"/>
                  </a:lnTo>
                  <a:lnTo>
                    <a:pt x="55334" y="12388"/>
                  </a:lnTo>
                  <a:lnTo>
                    <a:pt x="23740" y="38336"/>
                  </a:lnTo>
                  <a:lnTo>
                    <a:pt x="4487" y="74408"/>
                  </a:lnTo>
                  <a:lnTo>
                    <a:pt x="0" y="104774"/>
                  </a:lnTo>
                  <a:lnTo>
                    <a:pt x="498" y="115095"/>
                  </a:lnTo>
                  <a:lnTo>
                    <a:pt x="12385" y="154215"/>
                  </a:lnTo>
                  <a:lnTo>
                    <a:pt x="38337" y="185808"/>
                  </a:lnTo>
                  <a:lnTo>
                    <a:pt x="74405" y="205065"/>
                  </a:lnTo>
                  <a:lnTo>
                    <a:pt x="104774" y="209549"/>
                  </a:lnTo>
                  <a:lnTo>
                    <a:pt x="2590799" y="209549"/>
                  </a:lnTo>
                  <a:lnTo>
                    <a:pt x="2630893" y="201574"/>
                  </a:lnTo>
                  <a:lnTo>
                    <a:pt x="2664891" y="178866"/>
                  </a:lnTo>
                  <a:lnTo>
                    <a:pt x="2687599" y="144868"/>
                  </a:lnTo>
                  <a:lnTo>
                    <a:pt x="2695574" y="104774"/>
                  </a:lnTo>
                  <a:lnTo>
                    <a:pt x="2695076" y="94454"/>
                  </a:lnTo>
                  <a:lnTo>
                    <a:pt x="2683186" y="55334"/>
                  </a:lnTo>
                  <a:lnTo>
                    <a:pt x="2657238" y="23741"/>
                  </a:lnTo>
                  <a:lnTo>
                    <a:pt x="2621166" y="4484"/>
                  </a:lnTo>
                  <a:lnTo>
                    <a:pt x="259079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599" y="4048125"/>
              <a:ext cx="2686049" cy="20002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04837" y="4043362"/>
              <a:ext cx="2695575" cy="209550"/>
            </a:xfrm>
            <a:custGeom>
              <a:avLst/>
              <a:gdLst/>
              <a:ahLst/>
              <a:cxnLst/>
              <a:rect l="l" t="t" r="r" b="b"/>
              <a:pathLst>
                <a:path w="2695575" h="209550">
                  <a:moveTo>
                    <a:pt x="0" y="104775"/>
                  </a:moveTo>
                  <a:lnTo>
                    <a:pt x="0" y="97891"/>
                  </a:lnTo>
                  <a:lnTo>
                    <a:pt x="669" y="91084"/>
                  </a:lnTo>
                  <a:lnTo>
                    <a:pt x="2014" y="84328"/>
                  </a:lnTo>
                  <a:lnTo>
                    <a:pt x="3354" y="77584"/>
                  </a:lnTo>
                  <a:lnTo>
                    <a:pt x="5342" y="71031"/>
                  </a:lnTo>
                  <a:lnTo>
                    <a:pt x="7976" y="64681"/>
                  </a:lnTo>
                  <a:lnTo>
                    <a:pt x="10607" y="58318"/>
                  </a:lnTo>
                  <a:lnTo>
                    <a:pt x="30688" y="30683"/>
                  </a:lnTo>
                  <a:lnTo>
                    <a:pt x="35549" y="25819"/>
                  </a:lnTo>
                  <a:lnTo>
                    <a:pt x="40843" y="21475"/>
                  </a:lnTo>
                  <a:lnTo>
                    <a:pt x="46563" y="17653"/>
                  </a:lnTo>
                  <a:lnTo>
                    <a:pt x="52283" y="13830"/>
                  </a:lnTo>
                  <a:lnTo>
                    <a:pt x="58320" y="10604"/>
                  </a:lnTo>
                  <a:lnTo>
                    <a:pt x="64681" y="7975"/>
                  </a:lnTo>
                  <a:lnTo>
                    <a:pt x="71036" y="5346"/>
                  </a:lnTo>
                  <a:lnTo>
                    <a:pt x="77589" y="3352"/>
                  </a:lnTo>
                  <a:lnTo>
                    <a:pt x="84335" y="2006"/>
                  </a:lnTo>
                  <a:lnTo>
                    <a:pt x="91083" y="673"/>
                  </a:lnTo>
                  <a:lnTo>
                    <a:pt x="97894" y="0"/>
                  </a:lnTo>
                  <a:lnTo>
                    <a:pt x="104775" y="0"/>
                  </a:lnTo>
                  <a:lnTo>
                    <a:pt x="2590800" y="0"/>
                  </a:lnTo>
                  <a:lnTo>
                    <a:pt x="2597683" y="0"/>
                  </a:lnTo>
                  <a:lnTo>
                    <a:pt x="2604490" y="673"/>
                  </a:lnTo>
                  <a:lnTo>
                    <a:pt x="2611234" y="2006"/>
                  </a:lnTo>
                  <a:lnTo>
                    <a:pt x="2617990" y="3352"/>
                  </a:lnTo>
                  <a:lnTo>
                    <a:pt x="2624543" y="5346"/>
                  </a:lnTo>
                  <a:lnTo>
                    <a:pt x="2630893" y="7975"/>
                  </a:lnTo>
                  <a:lnTo>
                    <a:pt x="2637243" y="10604"/>
                  </a:lnTo>
                  <a:lnTo>
                    <a:pt x="2669755" y="35547"/>
                  </a:lnTo>
                  <a:lnTo>
                    <a:pt x="2687599" y="64681"/>
                  </a:lnTo>
                  <a:lnTo>
                    <a:pt x="2690228" y="71031"/>
                  </a:lnTo>
                  <a:lnTo>
                    <a:pt x="2692222" y="77584"/>
                  </a:lnTo>
                  <a:lnTo>
                    <a:pt x="2693555" y="84328"/>
                  </a:lnTo>
                  <a:lnTo>
                    <a:pt x="2694901" y="91084"/>
                  </a:lnTo>
                  <a:lnTo>
                    <a:pt x="2695575" y="97891"/>
                  </a:lnTo>
                  <a:lnTo>
                    <a:pt x="2695575" y="104775"/>
                  </a:lnTo>
                  <a:lnTo>
                    <a:pt x="2695575" y="111645"/>
                  </a:lnTo>
                  <a:lnTo>
                    <a:pt x="2694901" y="118465"/>
                  </a:lnTo>
                  <a:lnTo>
                    <a:pt x="2693555" y="125209"/>
                  </a:lnTo>
                  <a:lnTo>
                    <a:pt x="2692222" y="131965"/>
                  </a:lnTo>
                  <a:lnTo>
                    <a:pt x="2690228" y="138518"/>
                  </a:lnTo>
                  <a:lnTo>
                    <a:pt x="2687599" y="144868"/>
                  </a:lnTo>
                  <a:lnTo>
                    <a:pt x="2684970" y="151218"/>
                  </a:lnTo>
                  <a:lnTo>
                    <a:pt x="2681744" y="157264"/>
                  </a:lnTo>
                  <a:lnTo>
                    <a:pt x="2677922" y="162979"/>
                  </a:lnTo>
                  <a:lnTo>
                    <a:pt x="2674099" y="168706"/>
                  </a:lnTo>
                  <a:lnTo>
                    <a:pt x="2649016" y="191884"/>
                  </a:lnTo>
                  <a:lnTo>
                    <a:pt x="2643289" y="195719"/>
                  </a:lnTo>
                  <a:lnTo>
                    <a:pt x="2637243" y="198945"/>
                  </a:lnTo>
                  <a:lnTo>
                    <a:pt x="2630893" y="201574"/>
                  </a:lnTo>
                  <a:lnTo>
                    <a:pt x="2624543" y="204203"/>
                  </a:lnTo>
                  <a:lnTo>
                    <a:pt x="2617990" y="206197"/>
                  </a:lnTo>
                  <a:lnTo>
                    <a:pt x="2611234" y="207530"/>
                  </a:lnTo>
                  <a:lnTo>
                    <a:pt x="2604490" y="208876"/>
                  </a:lnTo>
                  <a:lnTo>
                    <a:pt x="2597683" y="209550"/>
                  </a:lnTo>
                  <a:lnTo>
                    <a:pt x="2590800" y="209550"/>
                  </a:lnTo>
                  <a:lnTo>
                    <a:pt x="104775" y="209550"/>
                  </a:lnTo>
                  <a:lnTo>
                    <a:pt x="97894" y="209550"/>
                  </a:lnTo>
                  <a:lnTo>
                    <a:pt x="91083" y="208876"/>
                  </a:lnTo>
                  <a:lnTo>
                    <a:pt x="84335" y="207530"/>
                  </a:lnTo>
                  <a:lnTo>
                    <a:pt x="77589" y="206197"/>
                  </a:lnTo>
                  <a:lnTo>
                    <a:pt x="71036" y="204203"/>
                  </a:lnTo>
                  <a:lnTo>
                    <a:pt x="64681" y="201574"/>
                  </a:lnTo>
                  <a:lnTo>
                    <a:pt x="58320" y="198945"/>
                  </a:lnTo>
                  <a:lnTo>
                    <a:pt x="52283" y="195719"/>
                  </a:lnTo>
                  <a:lnTo>
                    <a:pt x="46563" y="191884"/>
                  </a:lnTo>
                  <a:lnTo>
                    <a:pt x="40843" y="188074"/>
                  </a:lnTo>
                  <a:lnTo>
                    <a:pt x="17655" y="162979"/>
                  </a:lnTo>
                  <a:lnTo>
                    <a:pt x="13836" y="157264"/>
                  </a:lnTo>
                  <a:lnTo>
                    <a:pt x="10607" y="151218"/>
                  </a:lnTo>
                  <a:lnTo>
                    <a:pt x="7976" y="144868"/>
                  </a:lnTo>
                  <a:lnTo>
                    <a:pt x="5342" y="138518"/>
                  </a:lnTo>
                  <a:lnTo>
                    <a:pt x="3354" y="131965"/>
                  </a:lnTo>
                  <a:lnTo>
                    <a:pt x="2014" y="125209"/>
                  </a:lnTo>
                  <a:lnTo>
                    <a:pt x="669" y="118465"/>
                  </a:lnTo>
                  <a:lnTo>
                    <a:pt x="0" y="111645"/>
                  </a:lnTo>
                  <a:lnTo>
                    <a:pt x="0" y="1047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074" y="4038600"/>
              <a:ext cx="2057399" cy="219074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587375" y="4449762"/>
            <a:ext cx="157099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0">
                <a:solidFill>
                  <a:srgbClr val="3D3E43"/>
                </a:solidFill>
                <a:latin typeface="Verdana"/>
                <a:cs typeface="Verdana"/>
              </a:rPr>
              <a:t>Hat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3.80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rating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903339" y="3992562"/>
            <a:ext cx="45847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45">
                <a:solidFill>
                  <a:srgbClr val="3D3E43"/>
                </a:solidFill>
                <a:latin typeface="Verdana"/>
                <a:cs typeface="Verdana"/>
              </a:rPr>
              <a:t>76%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4086224" y="4038600"/>
            <a:ext cx="2705100" cy="219075"/>
            <a:chOff x="4086224" y="4038600"/>
            <a:chExt cx="2705100" cy="219075"/>
          </a:xfrm>
        </p:grpSpPr>
        <p:sp>
          <p:nvSpPr>
            <p:cNvPr id="31" name="object 31" descr=""/>
            <p:cNvSpPr/>
            <p:nvPr/>
          </p:nvSpPr>
          <p:spPr>
            <a:xfrm>
              <a:off x="4090987" y="4043362"/>
              <a:ext cx="2695575" cy="209550"/>
            </a:xfrm>
            <a:custGeom>
              <a:avLst/>
              <a:gdLst/>
              <a:ahLst/>
              <a:cxnLst/>
              <a:rect l="l" t="t" r="r" b="b"/>
              <a:pathLst>
                <a:path w="2695575" h="209550">
                  <a:moveTo>
                    <a:pt x="2590799" y="0"/>
                  </a:moveTo>
                  <a:lnTo>
                    <a:pt x="104774" y="0"/>
                  </a:lnTo>
                  <a:lnTo>
                    <a:pt x="94454" y="497"/>
                  </a:lnTo>
                  <a:lnTo>
                    <a:pt x="55334" y="12388"/>
                  </a:lnTo>
                  <a:lnTo>
                    <a:pt x="23740" y="38336"/>
                  </a:lnTo>
                  <a:lnTo>
                    <a:pt x="4484" y="74408"/>
                  </a:lnTo>
                  <a:lnTo>
                    <a:pt x="0" y="104774"/>
                  </a:lnTo>
                  <a:lnTo>
                    <a:pt x="497" y="115095"/>
                  </a:lnTo>
                  <a:lnTo>
                    <a:pt x="12382" y="154215"/>
                  </a:lnTo>
                  <a:lnTo>
                    <a:pt x="38336" y="185808"/>
                  </a:lnTo>
                  <a:lnTo>
                    <a:pt x="74408" y="205065"/>
                  </a:lnTo>
                  <a:lnTo>
                    <a:pt x="104774" y="209549"/>
                  </a:lnTo>
                  <a:lnTo>
                    <a:pt x="2590799" y="209549"/>
                  </a:lnTo>
                  <a:lnTo>
                    <a:pt x="2630893" y="201574"/>
                  </a:lnTo>
                  <a:lnTo>
                    <a:pt x="2664891" y="178866"/>
                  </a:lnTo>
                  <a:lnTo>
                    <a:pt x="2687599" y="144868"/>
                  </a:lnTo>
                  <a:lnTo>
                    <a:pt x="2695574" y="104774"/>
                  </a:lnTo>
                  <a:lnTo>
                    <a:pt x="2695076" y="94454"/>
                  </a:lnTo>
                  <a:lnTo>
                    <a:pt x="2683192" y="55334"/>
                  </a:lnTo>
                  <a:lnTo>
                    <a:pt x="2657238" y="23741"/>
                  </a:lnTo>
                  <a:lnTo>
                    <a:pt x="2621166" y="4484"/>
                  </a:lnTo>
                  <a:lnTo>
                    <a:pt x="259079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5749" y="4048125"/>
              <a:ext cx="2686049" cy="20002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090987" y="4043362"/>
              <a:ext cx="2695575" cy="209550"/>
            </a:xfrm>
            <a:custGeom>
              <a:avLst/>
              <a:gdLst/>
              <a:ahLst/>
              <a:cxnLst/>
              <a:rect l="l" t="t" r="r" b="b"/>
              <a:pathLst>
                <a:path w="2695575" h="209550">
                  <a:moveTo>
                    <a:pt x="0" y="104775"/>
                  </a:moveTo>
                  <a:lnTo>
                    <a:pt x="0" y="97891"/>
                  </a:lnTo>
                  <a:lnTo>
                    <a:pt x="673" y="91084"/>
                  </a:lnTo>
                  <a:lnTo>
                    <a:pt x="2019" y="84328"/>
                  </a:lnTo>
                  <a:lnTo>
                    <a:pt x="3352" y="77584"/>
                  </a:lnTo>
                  <a:lnTo>
                    <a:pt x="5346" y="71031"/>
                  </a:lnTo>
                  <a:lnTo>
                    <a:pt x="7975" y="64681"/>
                  </a:lnTo>
                  <a:lnTo>
                    <a:pt x="10604" y="58318"/>
                  </a:lnTo>
                  <a:lnTo>
                    <a:pt x="30683" y="30683"/>
                  </a:lnTo>
                  <a:lnTo>
                    <a:pt x="35547" y="25819"/>
                  </a:lnTo>
                  <a:lnTo>
                    <a:pt x="64681" y="7975"/>
                  </a:lnTo>
                  <a:lnTo>
                    <a:pt x="71031" y="5346"/>
                  </a:lnTo>
                  <a:lnTo>
                    <a:pt x="77584" y="3352"/>
                  </a:lnTo>
                  <a:lnTo>
                    <a:pt x="84340" y="2006"/>
                  </a:lnTo>
                  <a:lnTo>
                    <a:pt x="91084" y="673"/>
                  </a:lnTo>
                  <a:lnTo>
                    <a:pt x="97891" y="0"/>
                  </a:lnTo>
                  <a:lnTo>
                    <a:pt x="104775" y="0"/>
                  </a:lnTo>
                  <a:lnTo>
                    <a:pt x="2590800" y="0"/>
                  </a:lnTo>
                  <a:lnTo>
                    <a:pt x="2597683" y="0"/>
                  </a:lnTo>
                  <a:lnTo>
                    <a:pt x="2604490" y="673"/>
                  </a:lnTo>
                  <a:lnTo>
                    <a:pt x="2611234" y="2006"/>
                  </a:lnTo>
                  <a:lnTo>
                    <a:pt x="2617990" y="3352"/>
                  </a:lnTo>
                  <a:lnTo>
                    <a:pt x="2624543" y="5346"/>
                  </a:lnTo>
                  <a:lnTo>
                    <a:pt x="2630893" y="7975"/>
                  </a:lnTo>
                  <a:lnTo>
                    <a:pt x="2637243" y="10604"/>
                  </a:lnTo>
                  <a:lnTo>
                    <a:pt x="2669755" y="35547"/>
                  </a:lnTo>
                  <a:lnTo>
                    <a:pt x="2677909" y="46558"/>
                  </a:lnTo>
                  <a:lnTo>
                    <a:pt x="2681744" y="52285"/>
                  </a:lnTo>
                  <a:lnTo>
                    <a:pt x="2693555" y="84328"/>
                  </a:lnTo>
                  <a:lnTo>
                    <a:pt x="2694901" y="91084"/>
                  </a:lnTo>
                  <a:lnTo>
                    <a:pt x="2695575" y="97891"/>
                  </a:lnTo>
                  <a:lnTo>
                    <a:pt x="2695575" y="104775"/>
                  </a:lnTo>
                  <a:lnTo>
                    <a:pt x="2695575" y="111645"/>
                  </a:lnTo>
                  <a:lnTo>
                    <a:pt x="2694901" y="118465"/>
                  </a:lnTo>
                  <a:lnTo>
                    <a:pt x="2693555" y="125209"/>
                  </a:lnTo>
                  <a:lnTo>
                    <a:pt x="2692222" y="131965"/>
                  </a:lnTo>
                  <a:lnTo>
                    <a:pt x="2677909" y="162979"/>
                  </a:lnTo>
                  <a:lnTo>
                    <a:pt x="2674099" y="168706"/>
                  </a:lnTo>
                  <a:lnTo>
                    <a:pt x="2649004" y="191884"/>
                  </a:lnTo>
                  <a:lnTo>
                    <a:pt x="2643289" y="195719"/>
                  </a:lnTo>
                  <a:lnTo>
                    <a:pt x="2637243" y="198945"/>
                  </a:lnTo>
                  <a:lnTo>
                    <a:pt x="2630893" y="201574"/>
                  </a:lnTo>
                  <a:lnTo>
                    <a:pt x="2624543" y="204203"/>
                  </a:lnTo>
                  <a:lnTo>
                    <a:pt x="2617990" y="206197"/>
                  </a:lnTo>
                  <a:lnTo>
                    <a:pt x="2611234" y="207530"/>
                  </a:lnTo>
                  <a:lnTo>
                    <a:pt x="2604490" y="208876"/>
                  </a:lnTo>
                  <a:lnTo>
                    <a:pt x="2597683" y="209550"/>
                  </a:lnTo>
                  <a:lnTo>
                    <a:pt x="2590800" y="209550"/>
                  </a:lnTo>
                  <a:lnTo>
                    <a:pt x="104775" y="209550"/>
                  </a:lnTo>
                  <a:lnTo>
                    <a:pt x="97891" y="209550"/>
                  </a:lnTo>
                  <a:lnTo>
                    <a:pt x="91084" y="208876"/>
                  </a:lnTo>
                  <a:lnTo>
                    <a:pt x="84340" y="207530"/>
                  </a:lnTo>
                  <a:lnTo>
                    <a:pt x="77584" y="206197"/>
                  </a:lnTo>
                  <a:lnTo>
                    <a:pt x="71031" y="204203"/>
                  </a:lnTo>
                  <a:lnTo>
                    <a:pt x="64681" y="201574"/>
                  </a:lnTo>
                  <a:lnTo>
                    <a:pt x="58318" y="198945"/>
                  </a:lnTo>
                  <a:lnTo>
                    <a:pt x="52285" y="195719"/>
                  </a:lnTo>
                  <a:lnTo>
                    <a:pt x="46558" y="191884"/>
                  </a:lnTo>
                  <a:lnTo>
                    <a:pt x="40843" y="188074"/>
                  </a:lnTo>
                  <a:lnTo>
                    <a:pt x="17653" y="162979"/>
                  </a:lnTo>
                  <a:lnTo>
                    <a:pt x="13830" y="157264"/>
                  </a:lnTo>
                  <a:lnTo>
                    <a:pt x="10604" y="151218"/>
                  </a:lnTo>
                  <a:lnTo>
                    <a:pt x="7975" y="144868"/>
                  </a:lnTo>
                  <a:lnTo>
                    <a:pt x="5346" y="138518"/>
                  </a:lnTo>
                  <a:lnTo>
                    <a:pt x="3352" y="131965"/>
                  </a:lnTo>
                  <a:lnTo>
                    <a:pt x="2019" y="125209"/>
                  </a:lnTo>
                  <a:lnTo>
                    <a:pt x="673" y="118465"/>
                  </a:lnTo>
                  <a:lnTo>
                    <a:pt x="0" y="111645"/>
                  </a:lnTo>
                  <a:lnTo>
                    <a:pt x="0" y="1047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86224" y="4038600"/>
              <a:ext cx="2047874" cy="219074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4068762" y="4449762"/>
            <a:ext cx="155956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Skirt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0">
                <a:solidFill>
                  <a:srgbClr val="3D3E43"/>
                </a:solidFill>
                <a:latin typeface="Verdana"/>
                <a:cs typeface="Verdana"/>
              </a:rPr>
              <a:t>3.78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rating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751191" y="5748999"/>
            <a:ext cx="3594100" cy="614045"/>
            <a:chOff x="7751191" y="5748999"/>
            <a:chExt cx="3594100" cy="614045"/>
          </a:xfrm>
        </p:grpSpPr>
        <p:pic>
          <p:nvPicPr>
            <p:cNvPr id="37" name="object 37" descr="">
              <a:hlinkClick r:id="rId12"/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51191" y="5748999"/>
              <a:ext cx="3594100" cy="6139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35150"/>
            <a:ext cx="38493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cap="small" sz="3350" spc="150"/>
              <a:t>s</a:t>
            </a:r>
            <a:r>
              <a:rPr dirty="0" sz="3350" spc="150"/>
              <a:t>hipping</a:t>
            </a:r>
            <a:r>
              <a:rPr dirty="0" sz="3350" spc="-245"/>
              <a:t> </a:t>
            </a:r>
            <a:r>
              <a:rPr dirty="0" cap="small" sz="3350" spc="-10"/>
              <a:t>i</a:t>
            </a:r>
            <a:r>
              <a:rPr dirty="0" sz="3350" spc="-10"/>
              <a:t>nsights</a:t>
            </a:r>
            <a:endParaRPr sz="3350"/>
          </a:p>
        </p:txBody>
      </p:sp>
      <p:grpSp>
        <p:nvGrpSpPr>
          <p:cNvPr id="3" name="object 3" descr=""/>
          <p:cNvGrpSpPr/>
          <p:nvPr/>
        </p:nvGrpSpPr>
        <p:grpSpPr>
          <a:xfrm>
            <a:off x="600075" y="2647949"/>
            <a:ext cx="2886075" cy="1933575"/>
            <a:chOff x="600075" y="2647949"/>
            <a:chExt cx="2886075" cy="1933575"/>
          </a:xfrm>
        </p:grpSpPr>
        <p:sp>
          <p:nvSpPr>
            <p:cNvPr id="4" name="object 4" descr=""/>
            <p:cNvSpPr/>
            <p:nvPr/>
          </p:nvSpPr>
          <p:spPr>
            <a:xfrm>
              <a:off x="604837" y="2652712"/>
              <a:ext cx="2876550" cy="1924050"/>
            </a:xfrm>
            <a:custGeom>
              <a:avLst/>
              <a:gdLst/>
              <a:ahLst/>
              <a:cxnLst/>
              <a:rect l="l" t="t" r="r" b="b"/>
              <a:pathLst>
                <a:path w="2876550" h="1924050">
                  <a:moveTo>
                    <a:pt x="275272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9" y="45310"/>
                  </a:lnTo>
                  <a:lnTo>
                    <a:pt x="5301" y="87933"/>
                  </a:lnTo>
                  <a:lnTo>
                    <a:pt x="0" y="123824"/>
                  </a:lnTo>
                  <a:lnTo>
                    <a:pt x="0" y="1800224"/>
                  </a:lnTo>
                  <a:lnTo>
                    <a:pt x="9425" y="1847608"/>
                  </a:lnTo>
                  <a:lnTo>
                    <a:pt x="36269" y="1887778"/>
                  </a:lnTo>
                  <a:lnTo>
                    <a:pt x="76438" y="1914626"/>
                  </a:lnTo>
                  <a:lnTo>
                    <a:pt x="123824" y="1924049"/>
                  </a:lnTo>
                  <a:lnTo>
                    <a:pt x="2752724" y="1924049"/>
                  </a:lnTo>
                  <a:lnTo>
                    <a:pt x="2800108" y="1914626"/>
                  </a:lnTo>
                  <a:lnTo>
                    <a:pt x="2840278" y="1887778"/>
                  </a:lnTo>
                  <a:lnTo>
                    <a:pt x="2867126" y="1847608"/>
                  </a:lnTo>
                  <a:lnTo>
                    <a:pt x="2876549" y="1800224"/>
                  </a:lnTo>
                  <a:lnTo>
                    <a:pt x="2876549" y="123824"/>
                  </a:lnTo>
                  <a:lnTo>
                    <a:pt x="2867126" y="76441"/>
                  </a:lnTo>
                  <a:lnTo>
                    <a:pt x="2840278" y="36271"/>
                  </a:lnTo>
                  <a:lnTo>
                    <a:pt x="2800108" y="9423"/>
                  </a:lnTo>
                  <a:lnTo>
                    <a:pt x="275272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2657475"/>
              <a:ext cx="2867024" cy="19145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4837" y="2652712"/>
              <a:ext cx="2876550" cy="1924050"/>
            </a:xfrm>
            <a:custGeom>
              <a:avLst/>
              <a:gdLst/>
              <a:ahLst/>
              <a:cxnLst/>
              <a:rect l="l" t="t" r="r" b="b"/>
              <a:pathLst>
                <a:path w="2876550" h="1924050">
                  <a:moveTo>
                    <a:pt x="0" y="18002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2752725" y="0"/>
                  </a:lnTo>
                  <a:lnTo>
                    <a:pt x="2760853" y="0"/>
                  </a:lnTo>
                  <a:lnTo>
                    <a:pt x="2768904" y="800"/>
                  </a:lnTo>
                  <a:lnTo>
                    <a:pt x="2776880" y="2374"/>
                  </a:lnTo>
                  <a:lnTo>
                    <a:pt x="2784856" y="3962"/>
                  </a:lnTo>
                  <a:lnTo>
                    <a:pt x="2792603" y="6311"/>
                  </a:lnTo>
                  <a:lnTo>
                    <a:pt x="2800108" y="9423"/>
                  </a:lnTo>
                  <a:lnTo>
                    <a:pt x="2807627" y="12534"/>
                  </a:lnTo>
                  <a:lnTo>
                    <a:pt x="2840278" y="36271"/>
                  </a:lnTo>
                  <a:lnTo>
                    <a:pt x="2846031" y="42011"/>
                  </a:lnTo>
                  <a:lnTo>
                    <a:pt x="2851162" y="48272"/>
                  </a:lnTo>
                  <a:lnTo>
                    <a:pt x="2855683" y="55029"/>
                  </a:lnTo>
                  <a:lnTo>
                    <a:pt x="2860205" y="61785"/>
                  </a:lnTo>
                  <a:lnTo>
                    <a:pt x="2864015" y="68922"/>
                  </a:lnTo>
                  <a:lnTo>
                    <a:pt x="2867126" y="76441"/>
                  </a:lnTo>
                  <a:lnTo>
                    <a:pt x="2870238" y="83947"/>
                  </a:lnTo>
                  <a:lnTo>
                    <a:pt x="2872587" y="91694"/>
                  </a:lnTo>
                  <a:lnTo>
                    <a:pt x="2874175" y="99669"/>
                  </a:lnTo>
                  <a:lnTo>
                    <a:pt x="2875762" y="107645"/>
                  </a:lnTo>
                  <a:lnTo>
                    <a:pt x="2876550" y="115697"/>
                  </a:lnTo>
                  <a:lnTo>
                    <a:pt x="2876550" y="123825"/>
                  </a:lnTo>
                  <a:lnTo>
                    <a:pt x="2876550" y="1800225"/>
                  </a:lnTo>
                  <a:lnTo>
                    <a:pt x="2876550" y="1808353"/>
                  </a:lnTo>
                  <a:lnTo>
                    <a:pt x="2875762" y="1816404"/>
                  </a:lnTo>
                  <a:lnTo>
                    <a:pt x="2874175" y="1824380"/>
                  </a:lnTo>
                  <a:lnTo>
                    <a:pt x="2872587" y="1832356"/>
                  </a:lnTo>
                  <a:lnTo>
                    <a:pt x="2870238" y="1840103"/>
                  </a:lnTo>
                  <a:lnTo>
                    <a:pt x="2867126" y="1847608"/>
                  </a:lnTo>
                  <a:lnTo>
                    <a:pt x="2864015" y="1855127"/>
                  </a:lnTo>
                  <a:lnTo>
                    <a:pt x="2840278" y="1887778"/>
                  </a:lnTo>
                  <a:lnTo>
                    <a:pt x="2807627" y="1911515"/>
                  </a:lnTo>
                  <a:lnTo>
                    <a:pt x="2800108" y="1914626"/>
                  </a:lnTo>
                  <a:lnTo>
                    <a:pt x="2792603" y="1917738"/>
                  </a:lnTo>
                  <a:lnTo>
                    <a:pt x="2784856" y="1920087"/>
                  </a:lnTo>
                  <a:lnTo>
                    <a:pt x="2776880" y="1921675"/>
                  </a:lnTo>
                  <a:lnTo>
                    <a:pt x="2768904" y="1923262"/>
                  </a:lnTo>
                  <a:lnTo>
                    <a:pt x="2760853" y="1924050"/>
                  </a:lnTo>
                  <a:lnTo>
                    <a:pt x="2752725" y="1924050"/>
                  </a:lnTo>
                  <a:lnTo>
                    <a:pt x="123825" y="1924050"/>
                  </a:lnTo>
                  <a:lnTo>
                    <a:pt x="115694" y="1924050"/>
                  </a:lnTo>
                  <a:lnTo>
                    <a:pt x="107642" y="1923262"/>
                  </a:lnTo>
                  <a:lnTo>
                    <a:pt x="99669" y="1921675"/>
                  </a:lnTo>
                  <a:lnTo>
                    <a:pt x="91692" y="1920087"/>
                  </a:lnTo>
                  <a:lnTo>
                    <a:pt x="83949" y="1917738"/>
                  </a:lnTo>
                  <a:lnTo>
                    <a:pt x="76438" y="1914626"/>
                  </a:lnTo>
                  <a:lnTo>
                    <a:pt x="68926" y="1911515"/>
                  </a:lnTo>
                  <a:lnTo>
                    <a:pt x="61793" y="1907705"/>
                  </a:lnTo>
                  <a:lnTo>
                    <a:pt x="55031" y="1903183"/>
                  </a:lnTo>
                  <a:lnTo>
                    <a:pt x="48270" y="1898662"/>
                  </a:lnTo>
                  <a:lnTo>
                    <a:pt x="42014" y="1893531"/>
                  </a:lnTo>
                  <a:lnTo>
                    <a:pt x="36269" y="1887778"/>
                  </a:lnTo>
                  <a:lnTo>
                    <a:pt x="30519" y="1882025"/>
                  </a:lnTo>
                  <a:lnTo>
                    <a:pt x="9425" y="1847608"/>
                  </a:lnTo>
                  <a:lnTo>
                    <a:pt x="6315" y="1840103"/>
                  </a:lnTo>
                  <a:lnTo>
                    <a:pt x="3963" y="1832356"/>
                  </a:lnTo>
                  <a:lnTo>
                    <a:pt x="2381" y="1824380"/>
                  </a:lnTo>
                  <a:lnTo>
                    <a:pt x="793" y="1816404"/>
                  </a:lnTo>
                  <a:lnTo>
                    <a:pt x="0" y="1808353"/>
                  </a:lnTo>
                  <a:lnTo>
                    <a:pt x="0" y="180022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68350" y="2811462"/>
            <a:ext cx="2367915" cy="12744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D3E43"/>
                </a:solidFill>
                <a:latin typeface="Verdana"/>
                <a:cs typeface="Verdana"/>
              </a:rPr>
              <a:t>Express</a:t>
            </a:r>
            <a:r>
              <a:rPr dirty="0" sz="16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50">
                <a:solidFill>
                  <a:srgbClr val="3D3E43"/>
                </a:solidFill>
                <a:latin typeface="Verdana"/>
                <a:cs typeface="Verdana"/>
              </a:rPr>
              <a:t>Shipping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b="1">
                <a:solidFill>
                  <a:srgbClr val="3D3E43"/>
                </a:solidFill>
                <a:latin typeface="Tahoma"/>
                <a:cs typeface="Tahoma"/>
              </a:rPr>
              <a:t>$60.48</a:t>
            </a:r>
            <a:r>
              <a:rPr dirty="0" sz="1350" spc="60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1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purchase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900"/>
              </a:spcBef>
            </a:pP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Premium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customers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willing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to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pay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more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for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faster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delivery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57600" y="2647949"/>
            <a:ext cx="2886075" cy="1933575"/>
            <a:chOff x="3657600" y="2647949"/>
            <a:chExt cx="2886075" cy="1933575"/>
          </a:xfrm>
        </p:grpSpPr>
        <p:sp>
          <p:nvSpPr>
            <p:cNvPr id="9" name="object 9" descr=""/>
            <p:cNvSpPr/>
            <p:nvPr/>
          </p:nvSpPr>
          <p:spPr>
            <a:xfrm>
              <a:off x="3662362" y="2652712"/>
              <a:ext cx="2876550" cy="1924050"/>
            </a:xfrm>
            <a:custGeom>
              <a:avLst/>
              <a:gdLst/>
              <a:ahLst/>
              <a:cxnLst/>
              <a:rect l="l" t="t" r="r" b="b"/>
              <a:pathLst>
                <a:path w="2876550" h="1924050">
                  <a:moveTo>
                    <a:pt x="275272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1800224"/>
                  </a:lnTo>
                  <a:lnTo>
                    <a:pt x="9423" y="1847608"/>
                  </a:lnTo>
                  <a:lnTo>
                    <a:pt x="36271" y="1887778"/>
                  </a:lnTo>
                  <a:lnTo>
                    <a:pt x="76441" y="1914626"/>
                  </a:lnTo>
                  <a:lnTo>
                    <a:pt x="123824" y="1924049"/>
                  </a:lnTo>
                  <a:lnTo>
                    <a:pt x="2752724" y="1924049"/>
                  </a:lnTo>
                  <a:lnTo>
                    <a:pt x="2800108" y="1914626"/>
                  </a:lnTo>
                  <a:lnTo>
                    <a:pt x="2840278" y="1887778"/>
                  </a:lnTo>
                  <a:lnTo>
                    <a:pt x="2867126" y="1847608"/>
                  </a:lnTo>
                  <a:lnTo>
                    <a:pt x="2876549" y="1800224"/>
                  </a:lnTo>
                  <a:lnTo>
                    <a:pt x="2876549" y="123824"/>
                  </a:lnTo>
                  <a:lnTo>
                    <a:pt x="2867126" y="76441"/>
                  </a:lnTo>
                  <a:lnTo>
                    <a:pt x="2840278" y="36271"/>
                  </a:lnTo>
                  <a:lnTo>
                    <a:pt x="2800108" y="9423"/>
                  </a:lnTo>
                  <a:lnTo>
                    <a:pt x="275272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7124" y="2657475"/>
              <a:ext cx="2867024" cy="191452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662362" y="2652712"/>
              <a:ext cx="2876550" cy="1924050"/>
            </a:xfrm>
            <a:custGeom>
              <a:avLst/>
              <a:gdLst/>
              <a:ahLst/>
              <a:cxnLst/>
              <a:rect l="l" t="t" r="r" b="b"/>
              <a:pathLst>
                <a:path w="2876550" h="1924050">
                  <a:moveTo>
                    <a:pt x="0" y="18002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87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16357" y="61785"/>
                  </a:lnTo>
                  <a:lnTo>
                    <a:pt x="20866" y="55029"/>
                  </a:lnTo>
                  <a:lnTo>
                    <a:pt x="25387" y="48272"/>
                  </a:lnTo>
                  <a:lnTo>
                    <a:pt x="30518" y="42011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752725" y="0"/>
                  </a:lnTo>
                  <a:lnTo>
                    <a:pt x="2760853" y="0"/>
                  </a:lnTo>
                  <a:lnTo>
                    <a:pt x="2768904" y="800"/>
                  </a:lnTo>
                  <a:lnTo>
                    <a:pt x="2776880" y="2374"/>
                  </a:lnTo>
                  <a:lnTo>
                    <a:pt x="2784856" y="3962"/>
                  </a:lnTo>
                  <a:lnTo>
                    <a:pt x="2792603" y="6311"/>
                  </a:lnTo>
                  <a:lnTo>
                    <a:pt x="2800108" y="9423"/>
                  </a:lnTo>
                  <a:lnTo>
                    <a:pt x="2807627" y="12534"/>
                  </a:lnTo>
                  <a:lnTo>
                    <a:pt x="2840278" y="36271"/>
                  </a:lnTo>
                  <a:lnTo>
                    <a:pt x="2846031" y="42011"/>
                  </a:lnTo>
                  <a:lnTo>
                    <a:pt x="2851162" y="48272"/>
                  </a:lnTo>
                  <a:lnTo>
                    <a:pt x="2855683" y="55029"/>
                  </a:lnTo>
                  <a:lnTo>
                    <a:pt x="2860205" y="61785"/>
                  </a:lnTo>
                  <a:lnTo>
                    <a:pt x="2864015" y="68922"/>
                  </a:lnTo>
                  <a:lnTo>
                    <a:pt x="2867126" y="76441"/>
                  </a:lnTo>
                  <a:lnTo>
                    <a:pt x="2870238" y="83947"/>
                  </a:lnTo>
                  <a:lnTo>
                    <a:pt x="2872587" y="91694"/>
                  </a:lnTo>
                  <a:lnTo>
                    <a:pt x="2874175" y="99669"/>
                  </a:lnTo>
                  <a:lnTo>
                    <a:pt x="2875762" y="107645"/>
                  </a:lnTo>
                  <a:lnTo>
                    <a:pt x="2876550" y="115697"/>
                  </a:lnTo>
                  <a:lnTo>
                    <a:pt x="2876550" y="123825"/>
                  </a:lnTo>
                  <a:lnTo>
                    <a:pt x="2876550" y="1800225"/>
                  </a:lnTo>
                  <a:lnTo>
                    <a:pt x="2876550" y="1808353"/>
                  </a:lnTo>
                  <a:lnTo>
                    <a:pt x="2875762" y="1816404"/>
                  </a:lnTo>
                  <a:lnTo>
                    <a:pt x="2874175" y="1824380"/>
                  </a:lnTo>
                  <a:lnTo>
                    <a:pt x="2872587" y="1832356"/>
                  </a:lnTo>
                  <a:lnTo>
                    <a:pt x="2870238" y="1840103"/>
                  </a:lnTo>
                  <a:lnTo>
                    <a:pt x="2867126" y="1847608"/>
                  </a:lnTo>
                  <a:lnTo>
                    <a:pt x="2864015" y="1855127"/>
                  </a:lnTo>
                  <a:lnTo>
                    <a:pt x="2840278" y="1887778"/>
                  </a:lnTo>
                  <a:lnTo>
                    <a:pt x="2834525" y="1893531"/>
                  </a:lnTo>
                  <a:lnTo>
                    <a:pt x="2800108" y="1914626"/>
                  </a:lnTo>
                  <a:lnTo>
                    <a:pt x="2792603" y="1917738"/>
                  </a:lnTo>
                  <a:lnTo>
                    <a:pt x="2784856" y="1920087"/>
                  </a:lnTo>
                  <a:lnTo>
                    <a:pt x="2776880" y="1921675"/>
                  </a:lnTo>
                  <a:lnTo>
                    <a:pt x="2768904" y="1923262"/>
                  </a:lnTo>
                  <a:lnTo>
                    <a:pt x="2760853" y="1924050"/>
                  </a:lnTo>
                  <a:lnTo>
                    <a:pt x="2752725" y="1924050"/>
                  </a:lnTo>
                  <a:lnTo>
                    <a:pt x="123825" y="1924050"/>
                  </a:lnTo>
                  <a:lnTo>
                    <a:pt x="115697" y="1924050"/>
                  </a:lnTo>
                  <a:lnTo>
                    <a:pt x="107645" y="1923262"/>
                  </a:lnTo>
                  <a:lnTo>
                    <a:pt x="99669" y="1921675"/>
                  </a:lnTo>
                  <a:lnTo>
                    <a:pt x="91694" y="1920087"/>
                  </a:lnTo>
                  <a:lnTo>
                    <a:pt x="83947" y="1917738"/>
                  </a:lnTo>
                  <a:lnTo>
                    <a:pt x="76441" y="1914626"/>
                  </a:lnTo>
                  <a:lnTo>
                    <a:pt x="68922" y="1911515"/>
                  </a:lnTo>
                  <a:lnTo>
                    <a:pt x="36271" y="1887778"/>
                  </a:lnTo>
                  <a:lnTo>
                    <a:pt x="30518" y="1882025"/>
                  </a:lnTo>
                  <a:lnTo>
                    <a:pt x="9423" y="1847608"/>
                  </a:lnTo>
                  <a:lnTo>
                    <a:pt x="6311" y="1840103"/>
                  </a:lnTo>
                  <a:lnTo>
                    <a:pt x="3962" y="1832356"/>
                  </a:lnTo>
                  <a:lnTo>
                    <a:pt x="2387" y="1824380"/>
                  </a:lnTo>
                  <a:lnTo>
                    <a:pt x="800" y="1816404"/>
                  </a:lnTo>
                  <a:lnTo>
                    <a:pt x="0" y="1808353"/>
                  </a:lnTo>
                  <a:lnTo>
                    <a:pt x="0" y="180022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825875" y="2811462"/>
            <a:ext cx="2263775" cy="1550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D3E43"/>
                </a:solidFill>
                <a:latin typeface="Verdana"/>
                <a:cs typeface="Verdana"/>
              </a:rPr>
              <a:t>Standard</a:t>
            </a:r>
            <a:r>
              <a:rPr dirty="0" sz="1650" spc="13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50">
                <a:solidFill>
                  <a:srgbClr val="3D3E43"/>
                </a:solidFill>
                <a:latin typeface="Verdana"/>
                <a:cs typeface="Verdana"/>
              </a:rPr>
              <a:t>Shipping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b="1">
                <a:solidFill>
                  <a:srgbClr val="3D3E43"/>
                </a:solidFill>
                <a:latin typeface="Tahoma"/>
                <a:cs typeface="Tahoma"/>
              </a:rPr>
              <a:t>$58.46</a:t>
            </a:r>
            <a:r>
              <a:rPr dirty="0" sz="1350" spc="25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purchase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865"/>
              </a:spcBef>
            </a:pP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Slight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difference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suggests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shipping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speed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isn't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a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major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purchase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driver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60"/>
              <a:t>Subscription</a:t>
            </a:r>
            <a:r>
              <a:rPr dirty="0" sz="3350" spc="-225"/>
              <a:t> </a:t>
            </a:r>
            <a:r>
              <a:rPr dirty="0" sz="3350" spc="-20"/>
              <a:t>Status</a:t>
            </a:r>
            <a:r>
              <a:rPr dirty="0" sz="3350" spc="-225"/>
              <a:t> </a:t>
            </a:r>
            <a:r>
              <a:rPr dirty="0" sz="3350" spc="-10"/>
              <a:t>Analysis</a:t>
            </a:r>
            <a:endParaRPr sz="33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573" y="1895704"/>
            <a:ext cx="3221898" cy="3221962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3125" y="5267326"/>
            <a:ext cx="171450" cy="17145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380907" y="5226051"/>
            <a:ext cx="13874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Non-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Subscribers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43350" y="5267326"/>
            <a:ext cx="171450" cy="171450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181728" y="5226051"/>
            <a:ext cx="97726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Subscribers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518006" y="2211387"/>
            <a:ext cx="3266440" cy="27698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">
                <a:solidFill>
                  <a:srgbClr val="73757D"/>
                </a:solidFill>
                <a:latin typeface="Verdana"/>
                <a:cs typeface="Verdana"/>
              </a:rPr>
              <a:t>Subscription</a:t>
            </a:r>
            <a:r>
              <a:rPr dirty="0" sz="1650" spc="270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 spc="45">
                <a:solidFill>
                  <a:srgbClr val="73757D"/>
                </a:solidFill>
                <a:latin typeface="Verdana"/>
                <a:cs typeface="Verdana"/>
              </a:rPr>
              <a:t>Opportunity</a:t>
            </a:r>
            <a:endParaRPr sz="1650">
              <a:latin typeface="Verdana"/>
              <a:cs typeface="Verdana"/>
            </a:endParaRPr>
          </a:p>
          <a:p>
            <a:pPr marL="12700" marR="46990">
              <a:lnSpc>
                <a:spcPct val="134300"/>
              </a:lnSpc>
              <a:spcBef>
                <a:spcPts val="1065"/>
              </a:spcBef>
            </a:pP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Only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3D3E43"/>
                </a:solidFill>
                <a:latin typeface="Verdana"/>
                <a:cs typeface="Verdana"/>
              </a:rPr>
              <a:t>27%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of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customers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are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subscribers, 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yet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they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contribute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$62,645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in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revenue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with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a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$59.49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spend.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3100"/>
              </a:lnSpc>
              <a:spcBef>
                <a:spcPts val="1220"/>
              </a:spcBef>
            </a:pP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Non-</a:t>
            </a:r>
            <a:r>
              <a:rPr dirty="0" sz="1350" spc="-40">
                <a:solidFill>
                  <a:srgbClr val="3D3E43"/>
                </a:solidFill>
                <a:latin typeface="Verdana"/>
                <a:cs typeface="Verdana"/>
              </a:rPr>
              <a:t>subscribers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represent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3D3E43"/>
                </a:solidFill>
                <a:latin typeface="Verdana"/>
                <a:cs typeface="Verdana"/>
              </a:rPr>
              <a:t>73%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of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3D3E43"/>
                </a:solidFill>
                <a:latin typeface="Verdana"/>
                <a:cs typeface="Verdana"/>
              </a:rPr>
              <a:t>the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customer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3D3E43"/>
                </a:solidFill>
                <a:latin typeface="Verdana"/>
                <a:cs typeface="Verdana"/>
              </a:rPr>
              <a:t>base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with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3D3E43"/>
                </a:solidFill>
                <a:latin typeface="Verdana"/>
                <a:cs typeface="Verdana"/>
              </a:rPr>
              <a:t>$170,436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total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revenue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$59.87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average </a:t>
            </a:r>
            <a:r>
              <a:rPr dirty="0" sz="1350" spc="45">
                <a:solidFill>
                  <a:srgbClr val="3D3E43"/>
                </a:solidFill>
                <a:latin typeface="Verdana"/>
                <a:cs typeface="Verdana"/>
              </a:rPr>
              <a:t>spend4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nearly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identical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spending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patterns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suggest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untapped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subscription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potential.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763761" y="5922555"/>
            <a:ext cx="2578100" cy="440690"/>
            <a:chOff x="8763761" y="5922555"/>
            <a:chExt cx="2578100" cy="440690"/>
          </a:xfrm>
        </p:grpSpPr>
        <p:pic>
          <p:nvPicPr>
            <p:cNvPr id="10" name="object 10" descr="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3761" y="5922555"/>
              <a:ext cx="2578100" cy="4403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0075" y="1057274"/>
            <a:ext cx="1476375" cy="323850"/>
            <a:chOff x="600075" y="1057274"/>
            <a:chExt cx="1476375" cy="323850"/>
          </a:xfrm>
        </p:grpSpPr>
        <p:sp>
          <p:nvSpPr>
            <p:cNvPr id="3" name="object 3" descr=""/>
            <p:cNvSpPr/>
            <p:nvPr/>
          </p:nvSpPr>
          <p:spPr>
            <a:xfrm>
              <a:off x="600075" y="1057274"/>
              <a:ext cx="1476375" cy="323850"/>
            </a:xfrm>
            <a:custGeom>
              <a:avLst/>
              <a:gdLst/>
              <a:ahLst/>
              <a:cxnLst/>
              <a:rect l="l" t="t" r="r" b="b"/>
              <a:pathLst>
                <a:path w="1476375" h="323850">
                  <a:moveTo>
                    <a:pt x="1380261" y="0"/>
                  </a:moveTo>
                  <a:lnTo>
                    <a:pt x="96113" y="0"/>
                  </a:lnTo>
                  <a:lnTo>
                    <a:pt x="89425" y="660"/>
                  </a:lnTo>
                  <a:lnTo>
                    <a:pt x="51335" y="13589"/>
                  </a:lnTo>
                  <a:lnTo>
                    <a:pt x="21088" y="40093"/>
                  </a:lnTo>
                  <a:lnTo>
                    <a:pt x="3294" y="76174"/>
                  </a:lnTo>
                  <a:lnTo>
                    <a:pt x="0" y="96113"/>
                  </a:lnTo>
                  <a:lnTo>
                    <a:pt x="0" y="220980"/>
                  </a:lnTo>
                  <a:lnTo>
                    <a:pt x="0" y="227736"/>
                  </a:lnTo>
                  <a:lnTo>
                    <a:pt x="10412" y="266585"/>
                  </a:lnTo>
                  <a:lnTo>
                    <a:pt x="34904" y="298500"/>
                  </a:lnTo>
                  <a:lnTo>
                    <a:pt x="69745" y="318604"/>
                  </a:lnTo>
                  <a:lnTo>
                    <a:pt x="96113" y="323850"/>
                  </a:lnTo>
                  <a:lnTo>
                    <a:pt x="1380261" y="323850"/>
                  </a:lnTo>
                  <a:lnTo>
                    <a:pt x="1419110" y="313436"/>
                  </a:lnTo>
                  <a:lnTo>
                    <a:pt x="1451025" y="288937"/>
                  </a:lnTo>
                  <a:lnTo>
                    <a:pt x="1471129" y="254101"/>
                  </a:lnTo>
                  <a:lnTo>
                    <a:pt x="1476375" y="227736"/>
                  </a:lnTo>
                  <a:lnTo>
                    <a:pt x="1476375" y="96113"/>
                  </a:lnTo>
                  <a:lnTo>
                    <a:pt x="1465961" y="57264"/>
                  </a:lnTo>
                  <a:lnTo>
                    <a:pt x="1441475" y="25349"/>
                  </a:lnTo>
                  <a:lnTo>
                    <a:pt x="1406626" y="5245"/>
                  </a:lnTo>
                  <a:lnTo>
                    <a:pt x="1386954" y="660"/>
                  </a:lnTo>
                  <a:lnTo>
                    <a:pt x="1380261" y="0"/>
                  </a:lnTo>
                  <a:close/>
                </a:path>
              </a:pathLst>
            </a:custGeom>
            <a:solidFill>
              <a:srgbClr val="DFE1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532" y="1149489"/>
              <a:ext cx="123343" cy="143142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95747" y="1126489"/>
            <a:ext cx="109220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0">
                <a:solidFill>
                  <a:srgbClr val="3D3E43"/>
                </a:solidFill>
                <a:latin typeface="Verdana"/>
                <a:cs typeface="Verdana"/>
              </a:rPr>
              <a:t>SEGMENTATION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1435100"/>
            <a:ext cx="64122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0"/>
              <a:t>Customer</a:t>
            </a:r>
            <a:r>
              <a:rPr dirty="0" sz="3350" spc="-240"/>
              <a:t> </a:t>
            </a:r>
            <a:r>
              <a:rPr dirty="0" sz="3350" spc="-40"/>
              <a:t>Loyalty</a:t>
            </a:r>
            <a:r>
              <a:rPr dirty="0" sz="3350" spc="-235"/>
              <a:t> </a:t>
            </a:r>
            <a:r>
              <a:rPr dirty="0" sz="3350" spc="80"/>
              <a:t>Breakdown</a:t>
            </a:r>
            <a:endParaRPr sz="3350"/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2251075"/>
            <a:ext cx="1895475" cy="18923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87375" y="4335462"/>
            <a:ext cx="2637155" cy="10077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3D3E43"/>
                </a:solidFill>
                <a:latin typeface="Verdana"/>
                <a:cs typeface="Verdana"/>
              </a:rPr>
              <a:t>Loyal</a:t>
            </a:r>
            <a:r>
              <a:rPr dirty="0" sz="16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Customers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40" b="1">
                <a:solidFill>
                  <a:srgbClr val="3D3E43"/>
                </a:solidFill>
                <a:latin typeface="Tahoma"/>
                <a:cs typeface="Tahoma"/>
              </a:rPr>
              <a:t>3,116</a:t>
            </a:r>
            <a:r>
              <a:rPr dirty="0" sz="1350" spc="-80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3D3E43"/>
                </a:solidFill>
                <a:latin typeface="Tahoma"/>
                <a:cs typeface="Tahoma"/>
              </a:rPr>
              <a:t>customers</a:t>
            </a:r>
            <a:r>
              <a:rPr dirty="0" sz="1350" spc="-25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(80%)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Strong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repeat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purchase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behavior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86225" y="2251075"/>
            <a:ext cx="1885950" cy="1892300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068762" y="4335462"/>
            <a:ext cx="2042160" cy="10077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0">
                <a:solidFill>
                  <a:srgbClr val="3D3E43"/>
                </a:solidFill>
                <a:latin typeface="Verdana"/>
                <a:cs typeface="Verdana"/>
              </a:rPr>
              <a:t>Returning</a:t>
            </a:r>
            <a:r>
              <a:rPr dirty="0" sz="1650" spc="-10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Buyers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ts val="3000"/>
              </a:lnSpc>
            </a:pPr>
            <a:r>
              <a:rPr dirty="0" sz="1350" spc="-125" b="1">
                <a:solidFill>
                  <a:srgbClr val="3D3E43"/>
                </a:solidFill>
                <a:latin typeface="Tahoma"/>
                <a:cs typeface="Tahoma"/>
              </a:rPr>
              <a:t>701</a:t>
            </a:r>
            <a:r>
              <a:rPr dirty="0" sz="1350" spc="-80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3D3E43"/>
                </a:solidFill>
                <a:latin typeface="Tahoma"/>
                <a:cs typeface="Tahoma"/>
              </a:rPr>
              <a:t>customers</a:t>
            </a:r>
            <a:r>
              <a:rPr dirty="0" sz="1350" spc="-5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(18%)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Engaged</a:t>
            </a:r>
            <a:r>
              <a:rPr dirty="0" sz="1350" spc="-9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but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not</a:t>
            </a:r>
            <a:r>
              <a:rPr dirty="0" sz="1350" spc="-85">
                <a:solidFill>
                  <a:srgbClr val="3D3E43"/>
                </a:solidFill>
                <a:latin typeface="Verdana"/>
                <a:cs typeface="Verdana"/>
              </a:rPr>
              <a:t> yet</a:t>
            </a:r>
            <a:r>
              <a:rPr dirty="0" sz="1350" spc="-9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loyal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62850" y="2251075"/>
            <a:ext cx="1895475" cy="189230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550150" y="4335462"/>
            <a:ext cx="2337435" cy="10077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>
                <a:solidFill>
                  <a:srgbClr val="3D3E43"/>
                </a:solidFill>
                <a:latin typeface="Verdana"/>
                <a:cs typeface="Verdana"/>
              </a:rPr>
              <a:t>New</a:t>
            </a:r>
            <a:r>
              <a:rPr dirty="0" sz="1650" spc="-12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3D3E43"/>
                </a:solidFill>
                <a:latin typeface="Verdana"/>
                <a:cs typeface="Verdana"/>
              </a:rPr>
              <a:t>Customers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b="1">
                <a:solidFill>
                  <a:srgbClr val="3D3E43"/>
                </a:solidFill>
                <a:latin typeface="Tahoma"/>
                <a:cs typeface="Tahoma"/>
              </a:rPr>
              <a:t>83</a:t>
            </a:r>
            <a:r>
              <a:rPr dirty="0" sz="1350" spc="-75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3D3E43"/>
                </a:solidFill>
                <a:latin typeface="Tahoma"/>
                <a:cs typeface="Tahoma"/>
              </a:rPr>
              <a:t>customers</a:t>
            </a:r>
            <a:r>
              <a:rPr dirty="0" sz="1350" spc="-15" b="1">
                <a:solidFill>
                  <a:srgbClr val="3D3E43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3D3E43"/>
                </a:solidFill>
                <a:latin typeface="Verdana"/>
                <a:cs typeface="Verdana"/>
              </a:rPr>
              <a:t>(2%)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Fresh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acquisition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opportunity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458581" y="5870485"/>
            <a:ext cx="2882900" cy="492759"/>
            <a:chOff x="8458581" y="5870485"/>
            <a:chExt cx="2882900" cy="492759"/>
          </a:xfrm>
        </p:grpSpPr>
        <p:pic>
          <p:nvPicPr>
            <p:cNvPr id="14" name="object 14" descr="">
              <a:hlinkClick r:id="rId6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8581" y="5870485"/>
              <a:ext cx="2882900" cy="4924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50"/>
              <a:t>Revenue</a:t>
            </a:r>
            <a:r>
              <a:rPr dirty="0" sz="3350" spc="-254"/>
              <a:t> </a:t>
            </a:r>
            <a:r>
              <a:rPr dirty="0" sz="3350" spc="65"/>
              <a:t>Distribution</a:t>
            </a:r>
            <a:r>
              <a:rPr dirty="0" sz="3350" spc="-254"/>
              <a:t> </a:t>
            </a:r>
            <a:r>
              <a:rPr dirty="0" sz="3350"/>
              <a:t>by</a:t>
            </a:r>
            <a:r>
              <a:rPr dirty="0" sz="3350" spc="-250"/>
              <a:t> </a:t>
            </a:r>
            <a:r>
              <a:rPr dirty="0" sz="3350" spc="150"/>
              <a:t>Age</a:t>
            </a:r>
            <a:r>
              <a:rPr dirty="0" sz="3350" spc="-254"/>
              <a:t> </a:t>
            </a:r>
            <a:r>
              <a:rPr dirty="0" sz="3350"/>
              <a:t>C</a:t>
            </a:r>
            <a:r>
              <a:rPr dirty="0" sz="3350" spc="-254"/>
              <a:t> </a:t>
            </a:r>
            <a:r>
              <a:rPr dirty="0" sz="3350" spc="-10"/>
              <a:t>Category</a:t>
            </a:r>
            <a:endParaRPr sz="3350"/>
          </a:p>
        </p:txBody>
      </p:sp>
      <p:grpSp>
        <p:nvGrpSpPr>
          <p:cNvPr id="3" name="object 3" descr=""/>
          <p:cNvGrpSpPr/>
          <p:nvPr/>
        </p:nvGrpSpPr>
        <p:grpSpPr>
          <a:xfrm>
            <a:off x="1370940" y="1854699"/>
            <a:ext cx="4749165" cy="3432175"/>
            <a:chOff x="1370940" y="1854699"/>
            <a:chExt cx="4749165" cy="3432175"/>
          </a:xfrm>
        </p:grpSpPr>
        <p:sp>
          <p:nvSpPr>
            <p:cNvPr id="4" name="object 4" descr=""/>
            <p:cNvSpPr/>
            <p:nvPr/>
          </p:nvSpPr>
          <p:spPr>
            <a:xfrm>
              <a:off x="1430847" y="1859144"/>
              <a:ext cx="0" cy="3299460"/>
            </a:xfrm>
            <a:custGeom>
              <a:avLst/>
              <a:gdLst/>
              <a:ahLst/>
              <a:cxnLst/>
              <a:rect l="l" t="t" r="r" b="b"/>
              <a:pathLst>
                <a:path w="0" h="3299460">
                  <a:moveTo>
                    <a:pt x="0" y="0"/>
                  </a:moveTo>
                  <a:lnTo>
                    <a:pt x="0" y="329928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321819" y="1859144"/>
              <a:ext cx="0" cy="3299460"/>
            </a:xfrm>
            <a:custGeom>
              <a:avLst/>
              <a:gdLst/>
              <a:ahLst/>
              <a:cxnLst/>
              <a:rect l="l" t="t" r="r" b="b"/>
              <a:pathLst>
                <a:path w="0" h="3299460">
                  <a:moveTo>
                    <a:pt x="0" y="0"/>
                  </a:moveTo>
                  <a:lnTo>
                    <a:pt x="0" y="329928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04219" y="1859144"/>
              <a:ext cx="0" cy="3299460"/>
            </a:xfrm>
            <a:custGeom>
              <a:avLst/>
              <a:gdLst/>
              <a:ahLst/>
              <a:cxnLst/>
              <a:rect l="l" t="t" r="r" b="b"/>
              <a:pathLst>
                <a:path w="0" h="3299460">
                  <a:moveTo>
                    <a:pt x="0" y="0"/>
                  </a:moveTo>
                  <a:lnTo>
                    <a:pt x="0" y="3299280"/>
                  </a:lnTo>
                </a:path>
              </a:pathLst>
            </a:custGeom>
            <a:ln w="8556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30858" y="2094102"/>
              <a:ext cx="4689475" cy="548640"/>
            </a:xfrm>
            <a:custGeom>
              <a:avLst/>
              <a:gdLst/>
              <a:ahLst/>
              <a:cxnLst/>
              <a:rect l="l" t="t" r="r" b="b"/>
              <a:pathLst>
                <a:path w="4689475" h="548639">
                  <a:moveTo>
                    <a:pt x="4651819" y="0"/>
                  </a:moveTo>
                  <a:lnTo>
                    <a:pt x="42773" y="0"/>
                  </a:lnTo>
                  <a:lnTo>
                    <a:pt x="0" y="0"/>
                  </a:lnTo>
                  <a:lnTo>
                    <a:pt x="0" y="548233"/>
                  </a:lnTo>
                  <a:lnTo>
                    <a:pt x="4651819" y="548233"/>
                  </a:lnTo>
                  <a:lnTo>
                    <a:pt x="4657267" y="547154"/>
                  </a:lnTo>
                  <a:lnTo>
                    <a:pt x="4687836" y="516585"/>
                  </a:lnTo>
                  <a:lnTo>
                    <a:pt x="4688928" y="511124"/>
                  </a:lnTo>
                  <a:lnTo>
                    <a:pt x="4688928" y="37109"/>
                  </a:lnTo>
                  <a:lnTo>
                    <a:pt x="4657267" y="1092"/>
                  </a:lnTo>
                  <a:lnTo>
                    <a:pt x="4651819" y="0"/>
                  </a:lnTo>
                  <a:close/>
                </a:path>
              </a:pathLst>
            </a:custGeom>
            <a:solidFill>
              <a:srgbClr val="1D1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30858" y="2877299"/>
              <a:ext cx="4466590" cy="548640"/>
            </a:xfrm>
            <a:custGeom>
              <a:avLst/>
              <a:gdLst/>
              <a:ahLst/>
              <a:cxnLst/>
              <a:rect l="l" t="t" r="r" b="b"/>
              <a:pathLst>
                <a:path w="4466590" h="548639">
                  <a:moveTo>
                    <a:pt x="4429353" y="0"/>
                  </a:moveTo>
                  <a:lnTo>
                    <a:pt x="42773" y="0"/>
                  </a:lnTo>
                  <a:lnTo>
                    <a:pt x="0" y="0"/>
                  </a:lnTo>
                  <a:lnTo>
                    <a:pt x="0" y="548233"/>
                  </a:lnTo>
                  <a:lnTo>
                    <a:pt x="4429353" y="548233"/>
                  </a:lnTo>
                  <a:lnTo>
                    <a:pt x="4434801" y="547141"/>
                  </a:lnTo>
                  <a:lnTo>
                    <a:pt x="4465370" y="516585"/>
                  </a:lnTo>
                  <a:lnTo>
                    <a:pt x="4466450" y="511124"/>
                  </a:lnTo>
                  <a:lnTo>
                    <a:pt x="4466450" y="37109"/>
                  </a:lnTo>
                  <a:lnTo>
                    <a:pt x="4445292" y="5422"/>
                  </a:lnTo>
                  <a:lnTo>
                    <a:pt x="4434801" y="1092"/>
                  </a:lnTo>
                  <a:lnTo>
                    <a:pt x="4429353" y="0"/>
                  </a:lnTo>
                  <a:close/>
                </a:path>
              </a:pathLst>
            </a:custGeom>
            <a:solidFill>
              <a:srgbClr val="3337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30858" y="3660495"/>
              <a:ext cx="4227195" cy="548640"/>
            </a:xfrm>
            <a:custGeom>
              <a:avLst/>
              <a:gdLst/>
              <a:ahLst/>
              <a:cxnLst/>
              <a:rect l="l" t="t" r="r" b="b"/>
              <a:pathLst>
                <a:path w="4227195" h="548639">
                  <a:moveTo>
                    <a:pt x="4189768" y="0"/>
                  </a:moveTo>
                  <a:lnTo>
                    <a:pt x="42773" y="0"/>
                  </a:lnTo>
                  <a:lnTo>
                    <a:pt x="0" y="0"/>
                  </a:lnTo>
                  <a:lnTo>
                    <a:pt x="0" y="548233"/>
                  </a:lnTo>
                  <a:lnTo>
                    <a:pt x="4189768" y="548233"/>
                  </a:lnTo>
                  <a:lnTo>
                    <a:pt x="4195216" y="547141"/>
                  </a:lnTo>
                  <a:lnTo>
                    <a:pt x="4225785" y="516585"/>
                  </a:lnTo>
                  <a:lnTo>
                    <a:pt x="4226877" y="511124"/>
                  </a:lnTo>
                  <a:lnTo>
                    <a:pt x="4226877" y="37109"/>
                  </a:lnTo>
                  <a:lnTo>
                    <a:pt x="4205706" y="5422"/>
                  </a:lnTo>
                  <a:lnTo>
                    <a:pt x="4195216" y="1079"/>
                  </a:lnTo>
                  <a:lnTo>
                    <a:pt x="4189768" y="0"/>
                  </a:lnTo>
                  <a:close/>
                </a:path>
              </a:pathLst>
            </a:custGeom>
            <a:solidFill>
              <a:srgbClr val="4B50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30858" y="4443691"/>
              <a:ext cx="4210050" cy="548640"/>
            </a:xfrm>
            <a:custGeom>
              <a:avLst/>
              <a:gdLst/>
              <a:ahLst/>
              <a:cxnLst/>
              <a:rect l="l" t="t" r="r" b="b"/>
              <a:pathLst>
                <a:path w="4210050" h="548639">
                  <a:moveTo>
                    <a:pt x="4172648" y="0"/>
                  </a:moveTo>
                  <a:lnTo>
                    <a:pt x="42773" y="0"/>
                  </a:lnTo>
                  <a:lnTo>
                    <a:pt x="0" y="0"/>
                  </a:lnTo>
                  <a:lnTo>
                    <a:pt x="0" y="548233"/>
                  </a:lnTo>
                  <a:lnTo>
                    <a:pt x="4172648" y="548233"/>
                  </a:lnTo>
                  <a:lnTo>
                    <a:pt x="4178109" y="547141"/>
                  </a:lnTo>
                  <a:lnTo>
                    <a:pt x="4208678" y="516572"/>
                  </a:lnTo>
                  <a:lnTo>
                    <a:pt x="4209757" y="511124"/>
                  </a:lnTo>
                  <a:lnTo>
                    <a:pt x="4209757" y="37096"/>
                  </a:lnTo>
                  <a:lnTo>
                    <a:pt x="4178109" y="1079"/>
                  </a:lnTo>
                  <a:lnTo>
                    <a:pt x="4172648" y="0"/>
                  </a:lnTo>
                  <a:close/>
                </a:path>
              </a:pathLst>
            </a:custGeom>
            <a:solidFill>
              <a:srgbClr val="616A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79513" y="2368230"/>
              <a:ext cx="51435" cy="2350135"/>
            </a:xfrm>
            <a:custGeom>
              <a:avLst/>
              <a:gdLst/>
              <a:ahLst/>
              <a:cxnLst/>
              <a:rect l="l" t="t" r="r" b="b"/>
              <a:pathLst>
                <a:path w="51434" h="2350135">
                  <a:moveTo>
                    <a:pt x="51333" y="0"/>
                  </a:moveTo>
                  <a:lnTo>
                    <a:pt x="0" y="0"/>
                  </a:lnTo>
                </a:path>
                <a:path w="51434" h="2350135">
                  <a:moveTo>
                    <a:pt x="51333" y="783186"/>
                  </a:moveTo>
                  <a:lnTo>
                    <a:pt x="0" y="783186"/>
                  </a:lnTo>
                </a:path>
                <a:path w="51434" h="2350135">
                  <a:moveTo>
                    <a:pt x="51333" y="1566373"/>
                  </a:moveTo>
                  <a:lnTo>
                    <a:pt x="0" y="1566373"/>
                  </a:lnTo>
                </a:path>
                <a:path w="51434" h="2350135">
                  <a:moveTo>
                    <a:pt x="51333" y="2349573"/>
                  </a:moveTo>
                  <a:lnTo>
                    <a:pt x="0" y="2349573"/>
                  </a:lnTo>
                </a:path>
              </a:pathLst>
            </a:custGeom>
            <a:ln w="17112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30847" y="1863424"/>
              <a:ext cx="0" cy="3368040"/>
            </a:xfrm>
            <a:custGeom>
              <a:avLst/>
              <a:gdLst/>
              <a:ahLst/>
              <a:cxnLst/>
              <a:rect l="l" t="t" r="r" b="b"/>
              <a:pathLst>
                <a:path w="0" h="3368040">
                  <a:moveTo>
                    <a:pt x="0" y="0"/>
                  </a:moveTo>
                  <a:lnTo>
                    <a:pt x="0" y="3367731"/>
                  </a:lnTo>
                </a:path>
              </a:pathLst>
            </a:custGeom>
            <a:ln w="17112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30847" y="5226879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0"/>
                  </a:moveTo>
                  <a:lnTo>
                    <a:pt x="0" y="51335"/>
                  </a:lnTo>
                </a:path>
              </a:pathLst>
            </a:custGeom>
            <a:ln w="17112">
              <a:solidFill>
                <a:srgbClr val="3D3E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7095180" y="1859144"/>
            <a:ext cx="0" cy="3299460"/>
          </a:xfrm>
          <a:custGeom>
            <a:avLst/>
            <a:gdLst/>
            <a:ahLst/>
            <a:cxnLst/>
            <a:rect l="l" t="t" r="r" b="b"/>
            <a:pathLst>
              <a:path w="0" h="3299460">
                <a:moveTo>
                  <a:pt x="0" y="0"/>
                </a:moveTo>
                <a:lnTo>
                  <a:pt x="0" y="3299280"/>
                </a:lnTo>
              </a:path>
            </a:pathLst>
          </a:custGeom>
          <a:ln w="8556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56297" y="2275238"/>
            <a:ext cx="702310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0">
                <a:solidFill>
                  <a:srgbClr val="3D3E43"/>
                </a:solidFill>
                <a:latin typeface="Verdana"/>
                <a:cs typeface="Verdana"/>
              </a:rPr>
              <a:t>Young</a:t>
            </a:r>
            <a:r>
              <a:rPr dirty="0" sz="9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950" spc="-35">
                <a:solidFill>
                  <a:srgbClr val="3D3E43"/>
                </a:solidFill>
                <a:latin typeface="Verdana"/>
                <a:cs typeface="Verdana"/>
              </a:rPr>
              <a:t>Adult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2216" y="3058510"/>
            <a:ext cx="73596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30">
                <a:solidFill>
                  <a:srgbClr val="3D3E43"/>
                </a:solidFill>
                <a:latin typeface="Verdana"/>
                <a:cs typeface="Verdana"/>
              </a:rPr>
              <a:t>Middle-</a:t>
            </a:r>
            <a:r>
              <a:rPr dirty="0" sz="950" spc="-20">
                <a:solidFill>
                  <a:srgbClr val="3D3E43"/>
                </a:solidFill>
                <a:latin typeface="Verdana"/>
                <a:cs typeface="Verdana"/>
              </a:rPr>
              <a:t>aged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44445" y="3841631"/>
            <a:ext cx="31432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30">
                <a:solidFill>
                  <a:srgbClr val="3D3E43"/>
                </a:solidFill>
                <a:latin typeface="Verdana"/>
                <a:cs typeface="Verdana"/>
              </a:rPr>
              <a:t>Adult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75389" y="4624751"/>
            <a:ext cx="38290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0">
                <a:solidFill>
                  <a:srgbClr val="3D3E43"/>
                </a:solidFill>
                <a:latin typeface="Verdana"/>
                <a:cs typeface="Verdana"/>
              </a:rPr>
              <a:t>Senior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93108" y="5265445"/>
            <a:ext cx="350520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35">
                <a:solidFill>
                  <a:srgbClr val="3D3E43"/>
                </a:solidFill>
                <a:latin typeface="Verdana"/>
                <a:cs typeface="Verdana"/>
              </a:rPr>
              <a:t>$0.00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3321819" y="5226879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0"/>
                </a:moveTo>
                <a:lnTo>
                  <a:pt x="0" y="51335"/>
                </a:lnTo>
              </a:path>
            </a:pathLst>
          </a:custGeom>
          <a:ln w="17112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2987420" y="5265445"/>
            <a:ext cx="66865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5">
                <a:solidFill>
                  <a:srgbClr val="3D3E43"/>
                </a:solidFill>
                <a:latin typeface="Verdana"/>
                <a:cs typeface="Verdana"/>
              </a:rPr>
              <a:t>$25,000.00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5204219" y="5226879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0"/>
                </a:moveTo>
                <a:lnTo>
                  <a:pt x="0" y="51335"/>
                </a:lnTo>
              </a:path>
            </a:pathLst>
          </a:custGeom>
          <a:ln w="17112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869522" y="5265445"/>
            <a:ext cx="669290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45">
                <a:solidFill>
                  <a:srgbClr val="3D3E43"/>
                </a:solidFill>
                <a:latin typeface="Verdana"/>
                <a:cs typeface="Verdana"/>
              </a:rPr>
              <a:t>$50,000.00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7095180" y="5226879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0"/>
                </a:moveTo>
                <a:lnTo>
                  <a:pt x="0" y="51335"/>
                </a:lnTo>
              </a:path>
            </a:pathLst>
          </a:custGeom>
          <a:ln w="17112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764578" y="5265445"/>
            <a:ext cx="661035" cy="169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950" spc="-50">
                <a:solidFill>
                  <a:srgbClr val="3D3E43"/>
                </a:solidFill>
                <a:latin typeface="Verdana"/>
                <a:cs typeface="Verdana"/>
              </a:rPr>
              <a:t>$75,000.00</a:t>
            </a:r>
            <a:endParaRPr sz="950">
              <a:latin typeface="Verdana"/>
              <a:cs typeface="Verdana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1435127" y="5226879"/>
            <a:ext cx="5663565" cy="0"/>
          </a:xfrm>
          <a:custGeom>
            <a:avLst/>
            <a:gdLst/>
            <a:ahLst/>
            <a:cxnLst/>
            <a:rect l="l" t="t" r="r" b="b"/>
            <a:pathLst>
              <a:path w="5663565" h="0">
                <a:moveTo>
                  <a:pt x="0" y="0"/>
                </a:moveTo>
                <a:lnTo>
                  <a:pt x="5663532" y="0"/>
                </a:lnTo>
              </a:path>
            </a:pathLst>
          </a:custGeom>
          <a:ln w="17112">
            <a:solidFill>
              <a:srgbClr val="3D3E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7518006" y="2354262"/>
            <a:ext cx="3284854" cy="1236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>
                <a:solidFill>
                  <a:srgbClr val="73757D"/>
                </a:solidFill>
                <a:latin typeface="Verdana"/>
                <a:cs typeface="Verdana"/>
              </a:rPr>
              <a:t>Balanced</a:t>
            </a:r>
            <a:r>
              <a:rPr dirty="0" sz="1650" spc="-125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 spc="90">
                <a:solidFill>
                  <a:srgbClr val="73757D"/>
                </a:solidFill>
                <a:latin typeface="Verdana"/>
                <a:cs typeface="Verdana"/>
              </a:rPr>
              <a:t>Age</a:t>
            </a:r>
            <a:r>
              <a:rPr dirty="0" sz="1650" spc="-125">
                <a:solidFill>
                  <a:srgbClr val="73757D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73757D"/>
                </a:solidFill>
                <a:latin typeface="Verdana"/>
                <a:cs typeface="Verdana"/>
              </a:rPr>
              <a:t>Distribution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Revenue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is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relatively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balanced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across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age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groups,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with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Young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Adults</a:t>
            </a:r>
            <a:r>
              <a:rPr dirty="0" sz="13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leading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at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$62,143.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518006" y="3717290"/>
            <a:ext cx="3013075" cy="1130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Clothing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3D3E43"/>
                </a:solidFill>
                <a:latin typeface="Verdana"/>
                <a:cs typeface="Verdana"/>
              </a:rPr>
              <a:t>dominates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3D3E43"/>
                </a:solidFill>
                <a:latin typeface="Verdana"/>
                <a:cs typeface="Verdana"/>
              </a:rPr>
              <a:t>category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3D3E43"/>
                </a:solidFill>
                <a:latin typeface="Verdana"/>
                <a:cs typeface="Verdana"/>
              </a:rPr>
              <a:t>revenue </a:t>
            </a:r>
            <a:r>
              <a:rPr dirty="0" sz="1350" spc="-105">
                <a:solidFill>
                  <a:srgbClr val="3D3E43"/>
                </a:solidFill>
                <a:latin typeface="Verdana"/>
                <a:cs typeface="Verdana"/>
              </a:rPr>
              <a:t>(~$250K),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3D3E43"/>
                </a:solidFill>
                <a:latin typeface="Verdana"/>
                <a:cs typeface="Verdana"/>
              </a:rPr>
              <a:t>followed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3D3E43"/>
                </a:solidFill>
                <a:latin typeface="Verdana"/>
                <a:cs typeface="Verdana"/>
              </a:rPr>
              <a:t>by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Accessories </a:t>
            </a:r>
            <a:r>
              <a:rPr dirty="0" sz="1350" spc="-100">
                <a:solidFill>
                  <a:srgbClr val="3D3E43"/>
                </a:solidFill>
                <a:latin typeface="Verdana"/>
                <a:cs typeface="Verdana"/>
              </a:rPr>
              <a:t>(~$200K),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Footwear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30">
                <a:solidFill>
                  <a:srgbClr val="3D3E43"/>
                </a:solidFill>
                <a:latin typeface="Verdana"/>
                <a:cs typeface="Verdana"/>
              </a:rPr>
              <a:t>(~$100K),</a:t>
            </a:r>
            <a:r>
              <a:rPr dirty="0" sz="13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3D3E43"/>
                </a:solidFill>
                <a:latin typeface="Verdana"/>
                <a:cs typeface="Verdana"/>
              </a:rPr>
              <a:t>and </a:t>
            </a:r>
            <a:r>
              <a:rPr dirty="0" sz="1350" spc="-70">
                <a:solidFill>
                  <a:srgbClr val="3D3E43"/>
                </a:solidFill>
                <a:latin typeface="Verdana"/>
                <a:cs typeface="Verdana"/>
              </a:rPr>
              <a:t>Outerwear</a:t>
            </a:r>
            <a:r>
              <a:rPr dirty="0" sz="13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3D3E43"/>
                </a:solidFill>
                <a:latin typeface="Verdana"/>
                <a:cs typeface="Verdana"/>
              </a:rPr>
              <a:t>(~$50K).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917688" y="5777127"/>
            <a:ext cx="3429000" cy="586105"/>
            <a:chOff x="7917688" y="5777127"/>
            <a:chExt cx="3429000" cy="586105"/>
          </a:xfrm>
        </p:grpSpPr>
        <p:pic>
          <p:nvPicPr>
            <p:cNvPr id="30" name="object 30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4"/>
              <a:ext cx="1754504" cy="41910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7688" y="5777127"/>
              <a:ext cx="3429000" cy="5857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66558" y="449649"/>
            <a:ext cx="1699895" cy="306070"/>
            <a:chOff x="566558" y="449649"/>
            <a:chExt cx="1699895" cy="306070"/>
          </a:xfrm>
        </p:grpSpPr>
        <p:sp>
          <p:nvSpPr>
            <p:cNvPr id="3" name="object 3" descr=""/>
            <p:cNvSpPr/>
            <p:nvPr/>
          </p:nvSpPr>
          <p:spPr>
            <a:xfrm>
              <a:off x="566558" y="449649"/>
              <a:ext cx="1699895" cy="306070"/>
            </a:xfrm>
            <a:custGeom>
              <a:avLst/>
              <a:gdLst/>
              <a:ahLst/>
              <a:cxnLst/>
              <a:rect l="l" t="t" r="r" b="b"/>
              <a:pathLst>
                <a:path w="1699895" h="306070">
                  <a:moveTo>
                    <a:pt x="1608930" y="0"/>
                  </a:moveTo>
                  <a:lnTo>
                    <a:pt x="90745" y="0"/>
                  </a:lnTo>
                  <a:lnTo>
                    <a:pt x="84431" y="623"/>
                  </a:lnTo>
                  <a:lnTo>
                    <a:pt x="37864" y="19916"/>
                  </a:lnTo>
                  <a:lnTo>
                    <a:pt x="9831" y="54065"/>
                  </a:lnTo>
                  <a:lnTo>
                    <a:pt x="0" y="90745"/>
                  </a:lnTo>
                  <a:lnTo>
                    <a:pt x="0" y="208637"/>
                  </a:lnTo>
                  <a:lnTo>
                    <a:pt x="0" y="215016"/>
                  </a:lnTo>
                  <a:lnTo>
                    <a:pt x="12824" y="257295"/>
                  </a:lnTo>
                  <a:lnTo>
                    <a:pt x="48468" y="292931"/>
                  </a:lnTo>
                  <a:lnTo>
                    <a:pt x="90745" y="305761"/>
                  </a:lnTo>
                  <a:lnTo>
                    <a:pt x="1608930" y="305761"/>
                  </a:lnTo>
                  <a:lnTo>
                    <a:pt x="1651210" y="292931"/>
                  </a:lnTo>
                  <a:lnTo>
                    <a:pt x="1686846" y="257295"/>
                  </a:lnTo>
                  <a:lnTo>
                    <a:pt x="1699676" y="215016"/>
                  </a:lnTo>
                  <a:lnTo>
                    <a:pt x="1699676" y="90745"/>
                  </a:lnTo>
                  <a:lnTo>
                    <a:pt x="1686846" y="48466"/>
                  </a:lnTo>
                  <a:lnTo>
                    <a:pt x="1651210" y="12830"/>
                  </a:lnTo>
                  <a:lnTo>
                    <a:pt x="1615250" y="623"/>
                  </a:lnTo>
                  <a:lnTo>
                    <a:pt x="1608930" y="0"/>
                  </a:lnTo>
                  <a:close/>
                </a:path>
              </a:pathLst>
            </a:custGeom>
            <a:solidFill>
              <a:srgbClr val="DFE1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113" y="536712"/>
              <a:ext cx="96207" cy="135173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845007" y="514289"/>
            <a:ext cx="133985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45">
                <a:solidFill>
                  <a:srgbClr val="3D3E43"/>
                </a:solidFill>
                <a:latin typeface="Verdana"/>
                <a:cs typeface="Verdana"/>
              </a:rPr>
              <a:t>STRATEGIC</a:t>
            </a:r>
            <a:r>
              <a:rPr dirty="0" sz="1000" spc="-1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000" spc="-10">
                <a:solidFill>
                  <a:srgbClr val="3D3E43"/>
                </a:solidFill>
                <a:latin typeface="Verdana"/>
                <a:cs typeface="Verdana"/>
              </a:rPr>
              <a:t>ACTIONS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Business</a:t>
            </a:r>
            <a:r>
              <a:rPr dirty="0" spc="-225"/>
              <a:t> </a:t>
            </a:r>
            <a:r>
              <a:rPr dirty="0" spc="100"/>
              <a:t>Recommendations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548572" y="1573774"/>
            <a:ext cx="2311400" cy="2257425"/>
            <a:chOff x="548572" y="1573774"/>
            <a:chExt cx="2311400" cy="2257425"/>
          </a:xfrm>
        </p:grpSpPr>
        <p:sp>
          <p:nvSpPr>
            <p:cNvPr id="8" name="object 8" descr=""/>
            <p:cNvSpPr/>
            <p:nvPr/>
          </p:nvSpPr>
          <p:spPr>
            <a:xfrm>
              <a:off x="567347" y="1573783"/>
              <a:ext cx="2292985" cy="2257425"/>
            </a:xfrm>
            <a:custGeom>
              <a:avLst/>
              <a:gdLst/>
              <a:ahLst/>
              <a:cxnLst/>
              <a:rect l="l" t="t" r="r" b="b"/>
              <a:pathLst>
                <a:path w="2292985" h="2257425">
                  <a:moveTo>
                    <a:pt x="2292413" y="121399"/>
                  </a:moveTo>
                  <a:lnTo>
                    <a:pt x="2283180" y="74942"/>
                  </a:lnTo>
                  <a:lnTo>
                    <a:pt x="2257285" y="36029"/>
                  </a:lnTo>
                  <a:lnTo>
                    <a:pt x="2256866" y="35560"/>
                  </a:lnTo>
                  <a:lnTo>
                    <a:pt x="2247989" y="27508"/>
                  </a:lnTo>
                  <a:lnTo>
                    <a:pt x="2238476" y="20434"/>
                  </a:lnTo>
                  <a:lnTo>
                    <a:pt x="2234374" y="17983"/>
                  </a:lnTo>
                  <a:lnTo>
                    <a:pt x="2228304" y="14351"/>
                  </a:lnTo>
                  <a:lnTo>
                    <a:pt x="2182977" y="571"/>
                  </a:lnTo>
                  <a:lnTo>
                    <a:pt x="2171014" y="0"/>
                  </a:lnTo>
                  <a:lnTo>
                    <a:pt x="71145" y="0"/>
                  </a:lnTo>
                  <a:lnTo>
                    <a:pt x="31165" y="12115"/>
                  </a:lnTo>
                  <a:lnTo>
                    <a:pt x="4673" y="44411"/>
                  </a:lnTo>
                  <a:lnTo>
                    <a:pt x="0" y="61785"/>
                  </a:lnTo>
                  <a:lnTo>
                    <a:pt x="1028" y="57899"/>
                  </a:lnTo>
                  <a:lnTo>
                    <a:pt x="8331" y="44691"/>
                  </a:lnTo>
                  <a:lnTo>
                    <a:pt x="43611" y="22098"/>
                  </a:lnTo>
                  <a:lnTo>
                    <a:pt x="71145" y="17983"/>
                  </a:lnTo>
                  <a:lnTo>
                    <a:pt x="2171014" y="17983"/>
                  </a:lnTo>
                  <a:lnTo>
                    <a:pt x="2210600" y="25844"/>
                  </a:lnTo>
                  <a:lnTo>
                    <a:pt x="2244140" y="48272"/>
                  </a:lnTo>
                  <a:lnTo>
                    <a:pt x="2266556" y="81826"/>
                  </a:lnTo>
                  <a:lnTo>
                    <a:pt x="2274430" y="121399"/>
                  </a:lnTo>
                  <a:lnTo>
                    <a:pt x="2274430" y="2135835"/>
                  </a:lnTo>
                  <a:lnTo>
                    <a:pt x="2266556" y="2175408"/>
                  </a:lnTo>
                  <a:lnTo>
                    <a:pt x="2244572" y="2208492"/>
                  </a:lnTo>
                  <a:lnTo>
                    <a:pt x="2210600" y="2231377"/>
                  </a:lnTo>
                  <a:lnTo>
                    <a:pt x="2171014" y="2239251"/>
                  </a:lnTo>
                  <a:lnTo>
                    <a:pt x="71145" y="2239251"/>
                  </a:lnTo>
                  <a:lnTo>
                    <a:pt x="31165" y="2230170"/>
                  </a:lnTo>
                  <a:lnTo>
                    <a:pt x="1028" y="2199335"/>
                  </a:lnTo>
                  <a:lnTo>
                    <a:pt x="0" y="2195461"/>
                  </a:lnTo>
                  <a:lnTo>
                    <a:pt x="571" y="2199335"/>
                  </a:lnTo>
                  <a:lnTo>
                    <a:pt x="20281" y="2236165"/>
                  </a:lnTo>
                  <a:lnTo>
                    <a:pt x="57111" y="2255875"/>
                  </a:lnTo>
                  <a:lnTo>
                    <a:pt x="71145" y="2257234"/>
                  </a:lnTo>
                  <a:lnTo>
                    <a:pt x="2171014" y="2257234"/>
                  </a:lnTo>
                  <a:lnTo>
                    <a:pt x="2217483" y="2247989"/>
                  </a:lnTo>
                  <a:lnTo>
                    <a:pt x="2234374" y="2239251"/>
                  </a:lnTo>
                  <a:lnTo>
                    <a:pt x="2238476" y="2236800"/>
                  </a:lnTo>
                  <a:lnTo>
                    <a:pt x="2271979" y="2203297"/>
                  </a:lnTo>
                  <a:lnTo>
                    <a:pt x="2290102" y="2159520"/>
                  </a:lnTo>
                  <a:lnTo>
                    <a:pt x="2292413" y="2135835"/>
                  </a:lnTo>
                  <a:lnTo>
                    <a:pt x="2292413" y="121399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572" y="1573774"/>
              <a:ext cx="71943" cy="225724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87676" y="1736437"/>
            <a:ext cx="1715135" cy="1878964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292735">
              <a:lnSpc>
                <a:spcPct val="103299"/>
              </a:lnSpc>
              <a:spcBef>
                <a:spcPts val="30"/>
              </a:spcBef>
            </a:pPr>
            <a:r>
              <a:rPr dirty="0" sz="1600" spc="-10">
                <a:solidFill>
                  <a:srgbClr val="3D3E43"/>
                </a:solidFill>
                <a:latin typeface="Verdana"/>
                <a:cs typeface="Verdana"/>
              </a:rPr>
              <a:t>Boost Subscriptions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35700"/>
              </a:lnSpc>
              <a:spcBef>
                <a:spcPts val="515"/>
              </a:spcBef>
            </a:pP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Promote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exclusive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benefits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to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convert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the </a:t>
            </a:r>
            <a:r>
              <a:rPr dirty="0" sz="1250" spc="-110">
                <a:solidFill>
                  <a:srgbClr val="3D3E43"/>
                </a:solidFill>
                <a:latin typeface="Verdana"/>
                <a:cs typeface="Verdana"/>
              </a:rPr>
              <a:t>73%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non-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subscriber </a:t>
            </a:r>
            <a:r>
              <a:rPr dirty="0" sz="1250" spc="-20">
                <a:solidFill>
                  <a:srgbClr val="3D3E43"/>
                </a:solidFill>
                <a:latin typeface="Verdana"/>
                <a:cs typeface="Verdana"/>
              </a:rPr>
              <a:t>base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with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similar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spending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patterns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003660" y="1573774"/>
            <a:ext cx="2311400" cy="2257425"/>
            <a:chOff x="3003660" y="1573774"/>
            <a:chExt cx="2311400" cy="2257425"/>
          </a:xfrm>
        </p:grpSpPr>
        <p:sp>
          <p:nvSpPr>
            <p:cNvPr id="12" name="object 12" descr=""/>
            <p:cNvSpPr/>
            <p:nvPr/>
          </p:nvSpPr>
          <p:spPr>
            <a:xfrm>
              <a:off x="3022434" y="1573783"/>
              <a:ext cx="2292985" cy="2257425"/>
            </a:xfrm>
            <a:custGeom>
              <a:avLst/>
              <a:gdLst/>
              <a:ahLst/>
              <a:cxnLst/>
              <a:rect l="l" t="t" r="r" b="b"/>
              <a:pathLst>
                <a:path w="2292985" h="2257425">
                  <a:moveTo>
                    <a:pt x="2292413" y="121399"/>
                  </a:moveTo>
                  <a:lnTo>
                    <a:pt x="2283180" y="74942"/>
                  </a:lnTo>
                  <a:lnTo>
                    <a:pt x="2257285" y="36029"/>
                  </a:lnTo>
                  <a:lnTo>
                    <a:pt x="2256866" y="35560"/>
                  </a:lnTo>
                  <a:lnTo>
                    <a:pt x="2247989" y="27508"/>
                  </a:lnTo>
                  <a:lnTo>
                    <a:pt x="2238476" y="20434"/>
                  </a:lnTo>
                  <a:lnTo>
                    <a:pt x="2234374" y="17983"/>
                  </a:lnTo>
                  <a:lnTo>
                    <a:pt x="2228304" y="14351"/>
                  </a:lnTo>
                  <a:lnTo>
                    <a:pt x="2182977" y="571"/>
                  </a:lnTo>
                  <a:lnTo>
                    <a:pt x="2171014" y="0"/>
                  </a:lnTo>
                  <a:lnTo>
                    <a:pt x="71145" y="0"/>
                  </a:lnTo>
                  <a:lnTo>
                    <a:pt x="31178" y="12115"/>
                  </a:lnTo>
                  <a:lnTo>
                    <a:pt x="4686" y="44411"/>
                  </a:lnTo>
                  <a:lnTo>
                    <a:pt x="0" y="61772"/>
                  </a:lnTo>
                  <a:lnTo>
                    <a:pt x="1028" y="57899"/>
                  </a:lnTo>
                  <a:lnTo>
                    <a:pt x="8331" y="44691"/>
                  </a:lnTo>
                  <a:lnTo>
                    <a:pt x="43624" y="22098"/>
                  </a:lnTo>
                  <a:lnTo>
                    <a:pt x="71145" y="17983"/>
                  </a:lnTo>
                  <a:lnTo>
                    <a:pt x="2171014" y="17983"/>
                  </a:lnTo>
                  <a:lnTo>
                    <a:pt x="2210587" y="25844"/>
                  </a:lnTo>
                  <a:lnTo>
                    <a:pt x="2244140" y="48272"/>
                  </a:lnTo>
                  <a:lnTo>
                    <a:pt x="2266556" y="81826"/>
                  </a:lnTo>
                  <a:lnTo>
                    <a:pt x="2274430" y="121399"/>
                  </a:lnTo>
                  <a:lnTo>
                    <a:pt x="2274430" y="2135835"/>
                  </a:lnTo>
                  <a:lnTo>
                    <a:pt x="2266556" y="2175408"/>
                  </a:lnTo>
                  <a:lnTo>
                    <a:pt x="2244572" y="2208492"/>
                  </a:lnTo>
                  <a:lnTo>
                    <a:pt x="2210600" y="2231377"/>
                  </a:lnTo>
                  <a:lnTo>
                    <a:pt x="2171014" y="2239251"/>
                  </a:lnTo>
                  <a:lnTo>
                    <a:pt x="71145" y="2239251"/>
                  </a:lnTo>
                  <a:lnTo>
                    <a:pt x="31178" y="2230170"/>
                  </a:lnTo>
                  <a:lnTo>
                    <a:pt x="1028" y="2199335"/>
                  </a:lnTo>
                  <a:lnTo>
                    <a:pt x="0" y="2195461"/>
                  </a:lnTo>
                  <a:lnTo>
                    <a:pt x="571" y="2199335"/>
                  </a:lnTo>
                  <a:lnTo>
                    <a:pt x="20269" y="2236165"/>
                  </a:lnTo>
                  <a:lnTo>
                    <a:pt x="57111" y="2255875"/>
                  </a:lnTo>
                  <a:lnTo>
                    <a:pt x="71145" y="2257234"/>
                  </a:lnTo>
                  <a:lnTo>
                    <a:pt x="2171014" y="2257234"/>
                  </a:lnTo>
                  <a:lnTo>
                    <a:pt x="2217483" y="2247989"/>
                  </a:lnTo>
                  <a:lnTo>
                    <a:pt x="2234374" y="2239251"/>
                  </a:lnTo>
                  <a:lnTo>
                    <a:pt x="2238476" y="2236800"/>
                  </a:lnTo>
                  <a:lnTo>
                    <a:pt x="2271979" y="2203297"/>
                  </a:lnTo>
                  <a:lnTo>
                    <a:pt x="2290102" y="2159520"/>
                  </a:lnTo>
                  <a:lnTo>
                    <a:pt x="2292413" y="2135835"/>
                  </a:lnTo>
                  <a:lnTo>
                    <a:pt x="2292413" y="121399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3660" y="1573774"/>
              <a:ext cx="71943" cy="225724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3242764" y="1736437"/>
            <a:ext cx="1864995" cy="161861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62230">
              <a:lnSpc>
                <a:spcPct val="103299"/>
              </a:lnSpc>
              <a:spcBef>
                <a:spcPts val="30"/>
              </a:spcBef>
            </a:pPr>
            <a:r>
              <a:rPr dirty="0" sz="1600">
                <a:solidFill>
                  <a:srgbClr val="3D3E43"/>
                </a:solidFill>
                <a:latin typeface="Verdana"/>
                <a:cs typeface="Verdana"/>
              </a:rPr>
              <a:t>Customer </a:t>
            </a:r>
            <a:r>
              <a:rPr dirty="0" sz="1600" spc="-25">
                <a:solidFill>
                  <a:srgbClr val="3D3E43"/>
                </a:solidFill>
                <a:latin typeface="Verdana"/>
                <a:cs typeface="Verdana"/>
              </a:rPr>
              <a:t>Loyalty </a:t>
            </a:r>
            <a:r>
              <a:rPr dirty="0" sz="1600" spc="-10">
                <a:solidFill>
                  <a:srgbClr val="3D3E43"/>
                </a:solidFill>
                <a:latin typeface="Verdana"/>
                <a:cs typeface="Verdana"/>
              </a:rPr>
              <a:t>Programs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35300"/>
              </a:lnSpc>
              <a:spcBef>
                <a:spcPts val="520"/>
              </a:spcBef>
            </a:pP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Reward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repeat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buyers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to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move</a:t>
            </a:r>
            <a:r>
              <a:rPr dirty="0" sz="1250" spc="-8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the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75">
                <a:solidFill>
                  <a:srgbClr val="3D3E43"/>
                </a:solidFill>
                <a:latin typeface="Verdana"/>
                <a:cs typeface="Verdana"/>
              </a:rPr>
              <a:t>18%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returning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segment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into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the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D3E43"/>
                </a:solidFill>
                <a:latin typeface="Verdana"/>
                <a:cs typeface="Verdana"/>
              </a:rPr>
              <a:t>loyal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category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458748" y="1573774"/>
            <a:ext cx="2311400" cy="2257425"/>
            <a:chOff x="5458748" y="1573774"/>
            <a:chExt cx="2311400" cy="2257425"/>
          </a:xfrm>
        </p:grpSpPr>
        <p:sp>
          <p:nvSpPr>
            <p:cNvPr id="16" name="object 16" descr=""/>
            <p:cNvSpPr/>
            <p:nvPr/>
          </p:nvSpPr>
          <p:spPr>
            <a:xfrm>
              <a:off x="5477522" y="1573783"/>
              <a:ext cx="2292985" cy="2257425"/>
            </a:xfrm>
            <a:custGeom>
              <a:avLst/>
              <a:gdLst/>
              <a:ahLst/>
              <a:cxnLst/>
              <a:rect l="l" t="t" r="r" b="b"/>
              <a:pathLst>
                <a:path w="2292984" h="2257425">
                  <a:moveTo>
                    <a:pt x="2292413" y="121399"/>
                  </a:moveTo>
                  <a:lnTo>
                    <a:pt x="2283180" y="74942"/>
                  </a:lnTo>
                  <a:lnTo>
                    <a:pt x="2257285" y="36029"/>
                  </a:lnTo>
                  <a:lnTo>
                    <a:pt x="2256866" y="35560"/>
                  </a:lnTo>
                  <a:lnTo>
                    <a:pt x="2247989" y="27508"/>
                  </a:lnTo>
                  <a:lnTo>
                    <a:pt x="2238476" y="20434"/>
                  </a:lnTo>
                  <a:lnTo>
                    <a:pt x="2234374" y="17983"/>
                  </a:lnTo>
                  <a:lnTo>
                    <a:pt x="2228304" y="14351"/>
                  </a:lnTo>
                  <a:lnTo>
                    <a:pt x="2182977" y="571"/>
                  </a:lnTo>
                  <a:lnTo>
                    <a:pt x="2171014" y="0"/>
                  </a:lnTo>
                  <a:lnTo>
                    <a:pt x="71145" y="0"/>
                  </a:lnTo>
                  <a:lnTo>
                    <a:pt x="31178" y="12115"/>
                  </a:lnTo>
                  <a:lnTo>
                    <a:pt x="4686" y="44411"/>
                  </a:lnTo>
                  <a:lnTo>
                    <a:pt x="0" y="61772"/>
                  </a:lnTo>
                  <a:lnTo>
                    <a:pt x="1028" y="57899"/>
                  </a:lnTo>
                  <a:lnTo>
                    <a:pt x="8331" y="44691"/>
                  </a:lnTo>
                  <a:lnTo>
                    <a:pt x="43624" y="22098"/>
                  </a:lnTo>
                  <a:lnTo>
                    <a:pt x="71145" y="17983"/>
                  </a:lnTo>
                  <a:lnTo>
                    <a:pt x="2171014" y="17983"/>
                  </a:lnTo>
                  <a:lnTo>
                    <a:pt x="2210587" y="25844"/>
                  </a:lnTo>
                  <a:lnTo>
                    <a:pt x="2244140" y="48272"/>
                  </a:lnTo>
                  <a:lnTo>
                    <a:pt x="2266556" y="81826"/>
                  </a:lnTo>
                  <a:lnTo>
                    <a:pt x="2274430" y="121399"/>
                  </a:lnTo>
                  <a:lnTo>
                    <a:pt x="2274430" y="2135835"/>
                  </a:lnTo>
                  <a:lnTo>
                    <a:pt x="2266556" y="2175408"/>
                  </a:lnTo>
                  <a:lnTo>
                    <a:pt x="2244572" y="2208492"/>
                  </a:lnTo>
                  <a:lnTo>
                    <a:pt x="2210587" y="2231377"/>
                  </a:lnTo>
                  <a:lnTo>
                    <a:pt x="2171014" y="2239251"/>
                  </a:lnTo>
                  <a:lnTo>
                    <a:pt x="71145" y="2239251"/>
                  </a:lnTo>
                  <a:lnTo>
                    <a:pt x="31178" y="2230170"/>
                  </a:lnTo>
                  <a:lnTo>
                    <a:pt x="1028" y="2199335"/>
                  </a:lnTo>
                  <a:lnTo>
                    <a:pt x="0" y="2195461"/>
                  </a:lnTo>
                  <a:lnTo>
                    <a:pt x="571" y="2199335"/>
                  </a:lnTo>
                  <a:lnTo>
                    <a:pt x="20269" y="2236165"/>
                  </a:lnTo>
                  <a:lnTo>
                    <a:pt x="57111" y="2255875"/>
                  </a:lnTo>
                  <a:lnTo>
                    <a:pt x="71145" y="2257234"/>
                  </a:lnTo>
                  <a:lnTo>
                    <a:pt x="2171014" y="2257234"/>
                  </a:lnTo>
                  <a:lnTo>
                    <a:pt x="2217483" y="2247989"/>
                  </a:lnTo>
                  <a:lnTo>
                    <a:pt x="2234374" y="2239251"/>
                  </a:lnTo>
                  <a:lnTo>
                    <a:pt x="2238476" y="2236800"/>
                  </a:lnTo>
                  <a:lnTo>
                    <a:pt x="2271979" y="2203297"/>
                  </a:lnTo>
                  <a:lnTo>
                    <a:pt x="2290102" y="2159520"/>
                  </a:lnTo>
                  <a:lnTo>
                    <a:pt x="2292413" y="2135835"/>
                  </a:lnTo>
                  <a:lnTo>
                    <a:pt x="2292413" y="121399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8748" y="1573774"/>
              <a:ext cx="71943" cy="2257242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5697852" y="1736437"/>
            <a:ext cx="1748155" cy="161861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30"/>
              </a:spcBef>
            </a:pPr>
            <a:r>
              <a:rPr dirty="0" sz="1600">
                <a:solidFill>
                  <a:srgbClr val="3D3E43"/>
                </a:solidFill>
                <a:latin typeface="Verdana"/>
                <a:cs typeface="Verdana"/>
              </a:rPr>
              <a:t>Review</a:t>
            </a:r>
            <a:r>
              <a:rPr dirty="0" sz="1600" spc="-3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600" spc="-10">
                <a:solidFill>
                  <a:srgbClr val="3D3E43"/>
                </a:solidFill>
                <a:latin typeface="Verdana"/>
                <a:cs typeface="Verdana"/>
              </a:rPr>
              <a:t>Discount Policy</a:t>
            </a:r>
            <a:endParaRPr sz="1600">
              <a:latin typeface="Verdana"/>
              <a:cs typeface="Verdana"/>
            </a:endParaRPr>
          </a:p>
          <a:p>
            <a:pPr algn="just" marL="12700" marR="125730">
              <a:lnSpc>
                <a:spcPct val="135300"/>
              </a:lnSpc>
              <a:spcBef>
                <a:spcPts val="520"/>
              </a:spcBef>
            </a:pPr>
            <a:r>
              <a:rPr dirty="0" sz="1250" spc="-30">
                <a:solidFill>
                  <a:srgbClr val="3D3E43"/>
                </a:solidFill>
                <a:latin typeface="Verdana"/>
                <a:cs typeface="Verdana"/>
              </a:rPr>
              <a:t>Balance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sales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boosts 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with</a:t>
            </a:r>
            <a:r>
              <a:rPr dirty="0" sz="1250" spc="-1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80">
                <a:solidFill>
                  <a:srgbClr val="3D3E43"/>
                </a:solidFill>
                <a:latin typeface="Verdana"/>
                <a:cs typeface="Verdana"/>
              </a:rPr>
              <a:t>margin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 control4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some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products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3D3E43"/>
                </a:solidFill>
                <a:latin typeface="Verdana"/>
                <a:cs typeface="Verdana"/>
              </a:rPr>
              <a:t>show </a:t>
            </a:r>
            <a:r>
              <a:rPr dirty="0" sz="1250" spc="-80">
                <a:solidFill>
                  <a:srgbClr val="3D3E43"/>
                </a:solidFill>
                <a:latin typeface="Verdana"/>
                <a:cs typeface="Verdana"/>
              </a:rPr>
              <a:t>50%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discount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rates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7913836" y="1573774"/>
            <a:ext cx="2311400" cy="2257425"/>
            <a:chOff x="7913836" y="1573774"/>
            <a:chExt cx="2311400" cy="2257425"/>
          </a:xfrm>
        </p:grpSpPr>
        <p:sp>
          <p:nvSpPr>
            <p:cNvPr id="20" name="object 20" descr=""/>
            <p:cNvSpPr/>
            <p:nvPr/>
          </p:nvSpPr>
          <p:spPr>
            <a:xfrm>
              <a:off x="7932610" y="1573783"/>
              <a:ext cx="2292985" cy="2257425"/>
            </a:xfrm>
            <a:custGeom>
              <a:avLst/>
              <a:gdLst/>
              <a:ahLst/>
              <a:cxnLst/>
              <a:rect l="l" t="t" r="r" b="b"/>
              <a:pathLst>
                <a:path w="2292984" h="2257425">
                  <a:moveTo>
                    <a:pt x="2292413" y="121399"/>
                  </a:moveTo>
                  <a:lnTo>
                    <a:pt x="2283180" y="74942"/>
                  </a:lnTo>
                  <a:lnTo>
                    <a:pt x="2257285" y="36029"/>
                  </a:lnTo>
                  <a:lnTo>
                    <a:pt x="2256866" y="35560"/>
                  </a:lnTo>
                  <a:lnTo>
                    <a:pt x="2247989" y="27508"/>
                  </a:lnTo>
                  <a:lnTo>
                    <a:pt x="2238476" y="20434"/>
                  </a:lnTo>
                  <a:lnTo>
                    <a:pt x="2234374" y="17983"/>
                  </a:lnTo>
                  <a:lnTo>
                    <a:pt x="2228304" y="14351"/>
                  </a:lnTo>
                  <a:lnTo>
                    <a:pt x="2182977" y="571"/>
                  </a:lnTo>
                  <a:lnTo>
                    <a:pt x="2171014" y="0"/>
                  </a:lnTo>
                  <a:lnTo>
                    <a:pt x="71145" y="0"/>
                  </a:lnTo>
                  <a:lnTo>
                    <a:pt x="31178" y="12115"/>
                  </a:lnTo>
                  <a:lnTo>
                    <a:pt x="4686" y="44411"/>
                  </a:lnTo>
                  <a:lnTo>
                    <a:pt x="0" y="61772"/>
                  </a:lnTo>
                  <a:lnTo>
                    <a:pt x="1028" y="57899"/>
                  </a:lnTo>
                  <a:lnTo>
                    <a:pt x="8331" y="44691"/>
                  </a:lnTo>
                  <a:lnTo>
                    <a:pt x="43624" y="22098"/>
                  </a:lnTo>
                  <a:lnTo>
                    <a:pt x="71145" y="17983"/>
                  </a:lnTo>
                  <a:lnTo>
                    <a:pt x="2171014" y="17983"/>
                  </a:lnTo>
                  <a:lnTo>
                    <a:pt x="2210587" y="25844"/>
                  </a:lnTo>
                  <a:lnTo>
                    <a:pt x="2244140" y="48272"/>
                  </a:lnTo>
                  <a:lnTo>
                    <a:pt x="2266556" y="81826"/>
                  </a:lnTo>
                  <a:lnTo>
                    <a:pt x="2274430" y="121399"/>
                  </a:lnTo>
                  <a:lnTo>
                    <a:pt x="2274430" y="2135835"/>
                  </a:lnTo>
                  <a:lnTo>
                    <a:pt x="2266556" y="2175408"/>
                  </a:lnTo>
                  <a:lnTo>
                    <a:pt x="2244572" y="2208492"/>
                  </a:lnTo>
                  <a:lnTo>
                    <a:pt x="2210587" y="2231377"/>
                  </a:lnTo>
                  <a:lnTo>
                    <a:pt x="2171014" y="2239251"/>
                  </a:lnTo>
                  <a:lnTo>
                    <a:pt x="71145" y="2239251"/>
                  </a:lnTo>
                  <a:lnTo>
                    <a:pt x="31178" y="2230170"/>
                  </a:lnTo>
                  <a:lnTo>
                    <a:pt x="1028" y="2199335"/>
                  </a:lnTo>
                  <a:lnTo>
                    <a:pt x="0" y="2195461"/>
                  </a:lnTo>
                  <a:lnTo>
                    <a:pt x="571" y="2199335"/>
                  </a:lnTo>
                  <a:lnTo>
                    <a:pt x="20269" y="2236165"/>
                  </a:lnTo>
                  <a:lnTo>
                    <a:pt x="57111" y="2255875"/>
                  </a:lnTo>
                  <a:lnTo>
                    <a:pt x="71145" y="2257234"/>
                  </a:lnTo>
                  <a:lnTo>
                    <a:pt x="2171014" y="2257234"/>
                  </a:lnTo>
                  <a:lnTo>
                    <a:pt x="2217483" y="2247989"/>
                  </a:lnTo>
                  <a:lnTo>
                    <a:pt x="2234374" y="2239251"/>
                  </a:lnTo>
                  <a:lnTo>
                    <a:pt x="2238476" y="2236800"/>
                  </a:lnTo>
                  <a:lnTo>
                    <a:pt x="2271979" y="2203297"/>
                  </a:lnTo>
                  <a:lnTo>
                    <a:pt x="2290114" y="2159520"/>
                  </a:lnTo>
                  <a:lnTo>
                    <a:pt x="2292413" y="2135835"/>
                  </a:lnTo>
                  <a:lnTo>
                    <a:pt x="2292413" y="121399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3836" y="1573774"/>
              <a:ext cx="71943" cy="2257242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8152940" y="1736437"/>
            <a:ext cx="1885314" cy="135763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694690">
              <a:lnSpc>
                <a:spcPct val="103299"/>
              </a:lnSpc>
              <a:spcBef>
                <a:spcPts val="30"/>
              </a:spcBef>
            </a:pPr>
            <a:r>
              <a:rPr dirty="0" sz="1600" spc="40">
                <a:solidFill>
                  <a:srgbClr val="3D3E43"/>
                </a:solidFill>
                <a:latin typeface="Verdana"/>
                <a:cs typeface="Verdana"/>
              </a:rPr>
              <a:t>Product </a:t>
            </a:r>
            <a:r>
              <a:rPr dirty="0" sz="1600" spc="-10">
                <a:solidFill>
                  <a:srgbClr val="3D3E43"/>
                </a:solidFill>
                <a:latin typeface="Verdana"/>
                <a:cs typeface="Verdana"/>
              </a:rPr>
              <a:t>Positioning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34500"/>
              </a:lnSpc>
              <a:spcBef>
                <a:spcPts val="530"/>
              </a:spcBef>
            </a:pP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Highlight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3D3E43"/>
                </a:solidFill>
                <a:latin typeface="Verdana"/>
                <a:cs typeface="Verdana"/>
              </a:rPr>
              <a:t>top-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rated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3D3E43"/>
                </a:solidFill>
                <a:latin typeface="Verdana"/>
                <a:cs typeface="Verdana"/>
              </a:rPr>
              <a:t>items 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like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Gloves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Sandals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in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70">
                <a:solidFill>
                  <a:srgbClr val="3D3E43"/>
                </a:solidFill>
                <a:latin typeface="Verdana"/>
                <a:cs typeface="Verdana"/>
              </a:rPr>
              <a:t>marketing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campaigns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548572" y="3992889"/>
            <a:ext cx="2311400" cy="1997075"/>
            <a:chOff x="548572" y="3992889"/>
            <a:chExt cx="2311400" cy="1997075"/>
          </a:xfrm>
        </p:grpSpPr>
        <p:sp>
          <p:nvSpPr>
            <p:cNvPr id="24" name="object 24" descr=""/>
            <p:cNvSpPr/>
            <p:nvPr/>
          </p:nvSpPr>
          <p:spPr>
            <a:xfrm>
              <a:off x="567347" y="3992892"/>
              <a:ext cx="2292985" cy="1997075"/>
            </a:xfrm>
            <a:custGeom>
              <a:avLst/>
              <a:gdLst/>
              <a:ahLst/>
              <a:cxnLst/>
              <a:rect l="l" t="t" r="r" b="b"/>
              <a:pathLst>
                <a:path w="2292985" h="1997075">
                  <a:moveTo>
                    <a:pt x="2292413" y="121412"/>
                  </a:moveTo>
                  <a:lnTo>
                    <a:pt x="2283180" y="74942"/>
                  </a:lnTo>
                  <a:lnTo>
                    <a:pt x="2257285" y="36029"/>
                  </a:lnTo>
                  <a:lnTo>
                    <a:pt x="2256866" y="35560"/>
                  </a:lnTo>
                  <a:lnTo>
                    <a:pt x="2247989" y="27508"/>
                  </a:lnTo>
                  <a:lnTo>
                    <a:pt x="2238476" y="20447"/>
                  </a:lnTo>
                  <a:lnTo>
                    <a:pt x="2234374" y="17995"/>
                  </a:lnTo>
                  <a:lnTo>
                    <a:pt x="2228304" y="14351"/>
                  </a:lnTo>
                  <a:lnTo>
                    <a:pt x="2182977" y="584"/>
                  </a:lnTo>
                  <a:lnTo>
                    <a:pt x="2171014" y="0"/>
                  </a:lnTo>
                  <a:lnTo>
                    <a:pt x="71145" y="0"/>
                  </a:lnTo>
                  <a:lnTo>
                    <a:pt x="31165" y="12115"/>
                  </a:lnTo>
                  <a:lnTo>
                    <a:pt x="4673" y="44424"/>
                  </a:lnTo>
                  <a:lnTo>
                    <a:pt x="0" y="61785"/>
                  </a:lnTo>
                  <a:lnTo>
                    <a:pt x="1028" y="57912"/>
                  </a:lnTo>
                  <a:lnTo>
                    <a:pt x="8331" y="44691"/>
                  </a:lnTo>
                  <a:lnTo>
                    <a:pt x="43611" y="22085"/>
                  </a:lnTo>
                  <a:lnTo>
                    <a:pt x="71145" y="17995"/>
                  </a:lnTo>
                  <a:lnTo>
                    <a:pt x="2171014" y="17995"/>
                  </a:lnTo>
                  <a:lnTo>
                    <a:pt x="2210600" y="25857"/>
                  </a:lnTo>
                  <a:lnTo>
                    <a:pt x="2244140" y="48272"/>
                  </a:lnTo>
                  <a:lnTo>
                    <a:pt x="2244572" y="48755"/>
                  </a:lnTo>
                  <a:lnTo>
                    <a:pt x="2250998" y="55829"/>
                  </a:lnTo>
                  <a:lnTo>
                    <a:pt x="2269998" y="91427"/>
                  </a:lnTo>
                  <a:lnTo>
                    <a:pt x="2274430" y="121412"/>
                  </a:lnTo>
                  <a:lnTo>
                    <a:pt x="2274430" y="1875040"/>
                  </a:lnTo>
                  <a:lnTo>
                    <a:pt x="2266556" y="1914613"/>
                  </a:lnTo>
                  <a:lnTo>
                    <a:pt x="2244572" y="1947697"/>
                  </a:lnTo>
                  <a:lnTo>
                    <a:pt x="2210600" y="1970595"/>
                  </a:lnTo>
                  <a:lnTo>
                    <a:pt x="2171014" y="1978469"/>
                  </a:lnTo>
                  <a:lnTo>
                    <a:pt x="71145" y="1978469"/>
                  </a:lnTo>
                  <a:lnTo>
                    <a:pt x="31165" y="1969376"/>
                  </a:lnTo>
                  <a:lnTo>
                    <a:pt x="1028" y="1938540"/>
                  </a:lnTo>
                  <a:lnTo>
                    <a:pt x="0" y="1934654"/>
                  </a:lnTo>
                  <a:lnTo>
                    <a:pt x="571" y="1938540"/>
                  </a:lnTo>
                  <a:lnTo>
                    <a:pt x="20281" y="1975383"/>
                  </a:lnTo>
                  <a:lnTo>
                    <a:pt x="57111" y="1995081"/>
                  </a:lnTo>
                  <a:lnTo>
                    <a:pt x="71145" y="1996452"/>
                  </a:lnTo>
                  <a:lnTo>
                    <a:pt x="2171014" y="1996452"/>
                  </a:lnTo>
                  <a:lnTo>
                    <a:pt x="2217483" y="1987207"/>
                  </a:lnTo>
                  <a:lnTo>
                    <a:pt x="2256853" y="1960892"/>
                  </a:lnTo>
                  <a:lnTo>
                    <a:pt x="2283180" y="1921510"/>
                  </a:lnTo>
                  <a:lnTo>
                    <a:pt x="2292413" y="1875040"/>
                  </a:lnTo>
                  <a:lnTo>
                    <a:pt x="2292413" y="121412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8572" y="3992889"/>
              <a:ext cx="71943" cy="1996446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787676" y="4155553"/>
            <a:ext cx="1894205" cy="161861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815975">
              <a:lnSpc>
                <a:spcPct val="103299"/>
              </a:lnSpc>
              <a:spcBef>
                <a:spcPts val="30"/>
              </a:spcBef>
            </a:pPr>
            <a:r>
              <a:rPr dirty="0" sz="1600" spc="-10">
                <a:solidFill>
                  <a:srgbClr val="3D3E43"/>
                </a:solidFill>
                <a:latin typeface="Verdana"/>
                <a:cs typeface="Verdana"/>
              </a:rPr>
              <a:t>Targeted Marketing</a:t>
            </a:r>
            <a:endParaRPr sz="1600">
              <a:latin typeface="Verdana"/>
              <a:cs typeface="Verdana"/>
            </a:endParaRPr>
          </a:p>
          <a:p>
            <a:pPr marL="12700" marR="5080">
              <a:lnSpc>
                <a:spcPct val="135300"/>
              </a:lnSpc>
              <a:spcBef>
                <a:spcPts val="520"/>
              </a:spcBef>
            </a:pP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Focus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30">
                <a:solidFill>
                  <a:srgbClr val="3D3E43"/>
                </a:solidFill>
                <a:latin typeface="Verdana"/>
                <a:cs typeface="Verdana"/>
              </a:rPr>
              <a:t>on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high-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revenue </a:t>
            </a:r>
            <a:r>
              <a:rPr dirty="0" sz="1250" spc="-65">
                <a:solidFill>
                  <a:srgbClr val="3D3E43"/>
                </a:solidFill>
                <a:latin typeface="Verdana"/>
                <a:cs typeface="Verdana"/>
              </a:rPr>
              <a:t>segments:</a:t>
            </a:r>
            <a:r>
              <a:rPr dirty="0" sz="1250" spc="-6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Young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3D3E43"/>
                </a:solidFill>
                <a:latin typeface="Verdana"/>
                <a:cs typeface="Verdana"/>
              </a:rPr>
              <a:t>Adults, </a:t>
            </a:r>
            <a:r>
              <a:rPr dirty="0" sz="1250" spc="-35">
                <a:solidFill>
                  <a:srgbClr val="3D3E43"/>
                </a:solidFill>
                <a:latin typeface="Verdana"/>
                <a:cs typeface="Verdana"/>
              </a:rPr>
              <a:t>Clothing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50">
                <a:solidFill>
                  <a:srgbClr val="3D3E43"/>
                </a:solidFill>
                <a:latin typeface="Verdana"/>
                <a:cs typeface="Verdana"/>
              </a:rPr>
              <a:t>category,</a:t>
            </a:r>
            <a:r>
              <a:rPr dirty="0" sz="1250" spc="-55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3D3E43"/>
                </a:solidFill>
                <a:latin typeface="Verdana"/>
                <a:cs typeface="Verdana"/>
              </a:rPr>
              <a:t>and </a:t>
            </a:r>
            <a:r>
              <a:rPr dirty="0" sz="1250" spc="-45">
                <a:solidFill>
                  <a:srgbClr val="3D3E43"/>
                </a:solidFill>
                <a:latin typeface="Verdana"/>
                <a:cs typeface="Verdana"/>
              </a:rPr>
              <a:t>express-</a:t>
            </a:r>
            <a:r>
              <a:rPr dirty="0" sz="1250" spc="-20">
                <a:solidFill>
                  <a:srgbClr val="3D3E43"/>
                </a:solidFill>
                <a:latin typeface="Verdana"/>
                <a:cs typeface="Verdana"/>
              </a:rPr>
              <a:t>shipping</a:t>
            </a:r>
            <a:r>
              <a:rPr dirty="0" sz="1250" spc="3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3D3E43"/>
                </a:solidFill>
                <a:latin typeface="Verdana"/>
                <a:cs typeface="Verdana"/>
              </a:rPr>
              <a:t>users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7973070" y="5900317"/>
            <a:ext cx="2734310" cy="467359"/>
            <a:chOff x="7973070" y="5900317"/>
            <a:chExt cx="2734310" cy="467359"/>
          </a:xfrm>
        </p:grpSpPr>
        <p:pic>
          <p:nvPicPr>
            <p:cNvPr id="28" name="object 28" descr="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45155" y="5954802"/>
              <a:ext cx="1656509" cy="39569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73070" y="5900317"/>
              <a:ext cx="2733870" cy="467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2026-02-19T14:15:16Z</dcterms:created>
  <dcterms:modified xsi:type="dcterms:W3CDTF">2026-02-19T14:15:16Z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2026-02-19T00:00:00Z</vt:filetime>
  </property>
  <property fmtid="{D5CDD505-2E9C-101B-9397-08002B2CF9AE}" pid="5" name="Producer">
    <vt:lpwstr>4-Heights™ PDF Library 3.4.0.6904 (http://www.pdf-tools.com)</vt:lpwstr>
  </property>
</Properties>
</file>